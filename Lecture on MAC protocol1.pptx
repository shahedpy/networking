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8" r:id="rId3"/>
    <p:sldId id="259" r:id="rId4"/>
    <p:sldId id="261" r:id="rId5"/>
    <p:sldId id="262" r:id="rId6"/>
    <p:sldId id="260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2C751A-868C-4D93-A05E-8EE43FB15F3B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B49254-325A-40CD-A78D-C1F9988CA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169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890519" y="2485136"/>
            <a:ext cx="3362960" cy="695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algn="ctr">
              <a:lnSpc>
                <a:spcPts val="1240"/>
              </a:lnSpc>
            </a:pPr>
            <a:r>
              <a:rPr dirty="0"/>
              <a:t>Shamim</a:t>
            </a:r>
            <a:r>
              <a:rPr spc="-30" dirty="0"/>
              <a:t> </a:t>
            </a:r>
            <a:r>
              <a:rPr dirty="0"/>
              <a:t>Ahmed,</a:t>
            </a:r>
            <a:r>
              <a:rPr spc="-40" dirty="0"/>
              <a:t> </a:t>
            </a:r>
            <a:r>
              <a:rPr spc="-10" dirty="0"/>
              <a:t>Lecturer,</a:t>
            </a:r>
            <a:r>
              <a:rPr spc="-20" dirty="0"/>
              <a:t> </a:t>
            </a:r>
            <a:r>
              <a:rPr dirty="0"/>
              <a:t>Dept.</a:t>
            </a:r>
            <a:r>
              <a:rPr spc="-6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20" dirty="0"/>
              <a:t>CSE,</a:t>
            </a:r>
          </a:p>
          <a:p>
            <a:pPr algn="ctr">
              <a:lnSpc>
                <a:spcPct val="100000"/>
              </a:lnSpc>
            </a:pPr>
            <a:r>
              <a:rPr spc="-25" dirty="0"/>
              <a:t>BUBT,</a:t>
            </a:r>
            <a:r>
              <a:rPr spc="-45" dirty="0"/>
              <a:t> </a:t>
            </a:r>
            <a:r>
              <a:rPr spc="-10" dirty="0"/>
              <a:t>Dhaka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 spc="-10" smtClean="0"/>
              <a:t>21/08/2014</a:t>
            </a:r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algn="ctr">
              <a:lnSpc>
                <a:spcPts val="1240"/>
              </a:lnSpc>
            </a:pPr>
            <a:r>
              <a:rPr dirty="0"/>
              <a:t>Shamim</a:t>
            </a:r>
            <a:r>
              <a:rPr spc="-30" dirty="0"/>
              <a:t> </a:t>
            </a:r>
            <a:r>
              <a:rPr dirty="0"/>
              <a:t>Ahmed,</a:t>
            </a:r>
            <a:r>
              <a:rPr spc="-40" dirty="0"/>
              <a:t> </a:t>
            </a:r>
            <a:r>
              <a:rPr spc="-10" dirty="0"/>
              <a:t>Lecturer,</a:t>
            </a:r>
            <a:r>
              <a:rPr spc="-20" dirty="0"/>
              <a:t> </a:t>
            </a:r>
            <a:r>
              <a:rPr dirty="0"/>
              <a:t>Dept.</a:t>
            </a:r>
            <a:r>
              <a:rPr spc="-6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20" dirty="0"/>
              <a:t>CSE,</a:t>
            </a:r>
          </a:p>
          <a:p>
            <a:pPr algn="ctr">
              <a:lnSpc>
                <a:spcPct val="100000"/>
              </a:lnSpc>
            </a:pPr>
            <a:r>
              <a:rPr spc="-25" dirty="0"/>
              <a:t>BUBT,</a:t>
            </a:r>
            <a:r>
              <a:rPr spc="-45" dirty="0"/>
              <a:t> </a:t>
            </a:r>
            <a:r>
              <a:rPr spc="-10" dirty="0"/>
              <a:t>Dhaka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 spc="-10" smtClean="0"/>
              <a:t>21/08/2014</a:t>
            </a:r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algn="ctr">
              <a:lnSpc>
                <a:spcPts val="1240"/>
              </a:lnSpc>
            </a:pPr>
            <a:r>
              <a:rPr dirty="0"/>
              <a:t>Shamim</a:t>
            </a:r>
            <a:r>
              <a:rPr spc="-30" dirty="0"/>
              <a:t> </a:t>
            </a:r>
            <a:r>
              <a:rPr dirty="0"/>
              <a:t>Ahmed,</a:t>
            </a:r>
            <a:r>
              <a:rPr spc="-40" dirty="0"/>
              <a:t> </a:t>
            </a:r>
            <a:r>
              <a:rPr spc="-10" dirty="0"/>
              <a:t>Lecturer,</a:t>
            </a:r>
            <a:r>
              <a:rPr spc="-20" dirty="0"/>
              <a:t> </a:t>
            </a:r>
            <a:r>
              <a:rPr dirty="0"/>
              <a:t>Dept.</a:t>
            </a:r>
            <a:r>
              <a:rPr spc="-6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20" dirty="0"/>
              <a:t>CSE,</a:t>
            </a:r>
          </a:p>
          <a:p>
            <a:pPr algn="ctr">
              <a:lnSpc>
                <a:spcPct val="100000"/>
              </a:lnSpc>
            </a:pPr>
            <a:r>
              <a:rPr spc="-25" dirty="0"/>
              <a:t>BUBT,</a:t>
            </a:r>
            <a:r>
              <a:rPr spc="-45" dirty="0"/>
              <a:t> </a:t>
            </a:r>
            <a:r>
              <a:rPr spc="-10" dirty="0"/>
              <a:t>Dhaka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 spc="-10" smtClean="0"/>
              <a:t>21/08/2014</a:t>
            </a:r>
            <a:endParaRPr spc="-10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algn="ctr">
              <a:lnSpc>
                <a:spcPts val="1240"/>
              </a:lnSpc>
            </a:pPr>
            <a:r>
              <a:rPr dirty="0"/>
              <a:t>Shamim</a:t>
            </a:r>
            <a:r>
              <a:rPr spc="-30" dirty="0"/>
              <a:t> </a:t>
            </a:r>
            <a:r>
              <a:rPr dirty="0"/>
              <a:t>Ahmed,</a:t>
            </a:r>
            <a:r>
              <a:rPr spc="-40" dirty="0"/>
              <a:t> </a:t>
            </a:r>
            <a:r>
              <a:rPr spc="-10" dirty="0"/>
              <a:t>Lecturer,</a:t>
            </a:r>
            <a:r>
              <a:rPr spc="-20" dirty="0"/>
              <a:t> </a:t>
            </a:r>
            <a:r>
              <a:rPr dirty="0"/>
              <a:t>Dept.</a:t>
            </a:r>
            <a:r>
              <a:rPr spc="-6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20" dirty="0"/>
              <a:t>CSE,</a:t>
            </a:r>
          </a:p>
          <a:p>
            <a:pPr algn="ctr">
              <a:lnSpc>
                <a:spcPct val="100000"/>
              </a:lnSpc>
            </a:pPr>
            <a:r>
              <a:rPr spc="-25" dirty="0"/>
              <a:t>BUBT,</a:t>
            </a:r>
            <a:r>
              <a:rPr spc="-45" dirty="0"/>
              <a:t> </a:t>
            </a:r>
            <a:r>
              <a:rPr spc="-10" dirty="0"/>
              <a:t>Dhaka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 spc="-10" smtClean="0"/>
              <a:t>21/08/2014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algn="ctr">
              <a:lnSpc>
                <a:spcPts val="1240"/>
              </a:lnSpc>
            </a:pPr>
            <a:r>
              <a:rPr dirty="0"/>
              <a:t>Shamim</a:t>
            </a:r>
            <a:r>
              <a:rPr spc="-30" dirty="0"/>
              <a:t> </a:t>
            </a:r>
            <a:r>
              <a:rPr dirty="0"/>
              <a:t>Ahmed,</a:t>
            </a:r>
            <a:r>
              <a:rPr spc="-40" dirty="0"/>
              <a:t> </a:t>
            </a:r>
            <a:r>
              <a:rPr spc="-10" dirty="0"/>
              <a:t>Lecturer,</a:t>
            </a:r>
            <a:r>
              <a:rPr spc="-20" dirty="0"/>
              <a:t> </a:t>
            </a:r>
            <a:r>
              <a:rPr dirty="0"/>
              <a:t>Dept.</a:t>
            </a:r>
            <a:r>
              <a:rPr spc="-6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20" dirty="0"/>
              <a:t>CSE,</a:t>
            </a:r>
          </a:p>
          <a:p>
            <a:pPr algn="ctr">
              <a:lnSpc>
                <a:spcPct val="100000"/>
              </a:lnSpc>
            </a:pPr>
            <a:r>
              <a:rPr spc="-25" dirty="0"/>
              <a:t>BUBT,</a:t>
            </a:r>
            <a:r>
              <a:rPr spc="-45" dirty="0"/>
              <a:t> </a:t>
            </a:r>
            <a:r>
              <a:rPr spc="-10" dirty="0"/>
              <a:t>Dhaka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 spc="-10" smtClean="0"/>
              <a:t>21/08/2014</a:t>
            </a:r>
            <a:endParaRPr spc="-10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2574" y="464896"/>
            <a:ext cx="7978851" cy="695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23544" y="1527124"/>
            <a:ext cx="8006080" cy="4540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347973" y="6374993"/>
            <a:ext cx="2452370" cy="3613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algn="ctr">
              <a:lnSpc>
                <a:spcPts val="1240"/>
              </a:lnSpc>
            </a:pPr>
            <a:r>
              <a:rPr dirty="0"/>
              <a:t>Shamim</a:t>
            </a:r>
            <a:r>
              <a:rPr spc="-30" dirty="0"/>
              <a:t> </a:t>
            </a:r>
            <a:r>
              <a:rPr dirty="0"/>
              <a:t>Ahmed,</a:t>
            </a:r>
            <a:r>
              <a:rPr spc="-40" dirty="0"/>
              <a:t> </a:t>
            </a:r>
            <a:r>
              <a:rPr spc="-10" dirty="0"/>
              <a:t>Lecturer,</a:t>
            </a:r>
            <a:r>
              <a:rPr spc="-20" dirty="0"/>
              <a:t> </a:t>
            </a:r>
            <a:r>
              <a:rPr dirty="0"/>
              <a:t>Dept.</a:t>
            </a:r>
            <a:r>
              <a:rPr spc="-6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20" dirty="0"/>
              <a:t>CSE,</a:t>
            </a:r>
          </a:p>
          <a:p>
            <a:pPr algn="ctr">
              <a:lnSpc>
                <a:spcPct val="100000"/>
              </a:lnSpc>
            </a:pPr>
            <a:r>
              <a:rPr spc="-25" dirty="0"/>
              <a:t>BUBT,</a:t>
            </a:r>
            <a:r>
              <a:rPr spc="-45" dirty="0"/>
              <a:t> </a:t>
            </a:r>
            <a:r>
              <a:rPr spc="-10" dirty="0"/>
              <a:t>Dhaka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6244" y="6466509"/>
            <a:ext cx="752475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 spc="-10" smtClean="0"/>
              <a:t>21/08/2014</a:t>
            </a:r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407654" y="6466509"/>
            <a:ext cx="241300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2890519" y="2485136"/>
            <a:ext cx="3362960" cy="136575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0"/>
              </a:spcBef>
            </a:pPr>
            <a:r>
              <a:rPr b="0" dirty="0">
                <a:latin typeface="Carlito"/>
                <a:cs typeface="Carlito"/>
              </a:rPr>
              <a:t>MAC</a:t>
            </a:r>
            <a:r>
              <a:rPr b="0" spc="-105" dirty="0">
                <a:latin typeface="Carlito"/>
                <a:cs typeface="Carlito"/>
              </a:rPr>
              <a:t> </a:t>
            </a:r>
            <a:r>
              <a:rPr b="0" spc="-20" dirty="0">
                <a:latin typeface="Carlito"/>
                <a:cs typeface="Carlito"/>
              </a:rPr>
              <a:t>Protocols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30605">
              <a:lnSpc>
                <a:spcPct val="100000"/>
              </a:lnSpc>
              <a:spcBef>
                <a:spcPts val="95"/>
              </a:spcBef>
            </a:pPr>
            <a:r>
              <a:rPr dirty="0"/>
              <a:t>Multiple</a:t>
            </a:r>
            <a:r>
              <a:rPr spc="-50" dirty="0"/>
              <a:t> </a:t>
            </a:r>
            <a:r>
              <a:rPr dirty="0"/>
              <a:t>Access</a:t>
            </a:r>
            <a:r>
              <a:rPr spc="-75" dirty="0"/>
              <a:t> </a:t>
            </a:r>
            <a:r>
              <a:rPr spc="-10" dirty="0"/>
              <a:t>Protocols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609420"/>
            <a:ext cx="7908290" cy="3537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marR="294005" indent="-34480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6870" algn="l"/>
              </a:tabLst>
            </a:pPr>
            <a:r>
              <a:rPr sz="3200" b="1" dirty="0">
                <a:latin typeface="Carlito"/>
                <a:cs typeface="Carlito"/>
              </a:rPr>
              <a:t>Multiple</a:t>
            </a:r>
            <a:r>
              <a:rPr sz="3200" b="1" spc="-35" dirty="0">
                <a:latin typeface="Carlito"/>
                <a:cs typeface="Carlito"/>
              </a:rPr>
              <a:t> </a:t>
            </a:r>
            <a:r>
              <a:rPr sz="3200" b="1" dirty="0">
                <a:latin typeface="Carlito"/>
                <a:cs typeface="Carlito"/>
              </a:rPr>
              <a:t>Access</a:t>
            </a:r>
            <a:r>
              <a:rPr sz="3200" b="1" spc="-105" dirty="0">
                <a:latin typeface="Carlito"/>
                <a:cs typeface="Carlito"/>
              </a:rPr>
              <a:t> </a:t>
            </a:r>
            <a:r>
              <a:rPr sz="3200" b="1" spc="-30" dirty="0">
                <a:latin typeface="Carlito"/>
                <a:cs typeface="Carlito"/>
              </a:rPr>
              <a:t>Protocols</a:t>
            </a:r>
            <a:r>
              <a:rPr sz="3200" spc="-30" dirty="0">
                <a:latin typeface="Carlito"/>
                <a:cs typeface="Carlito"/>
              </a:rPr>
              <a:t>—</a:t>
            </a:r>
            <a:r>
              <a:rPr sz="3200" dirty="0">
                <a:latin typeface="Carlito"/>
                <a:cs typeface="Carlito"/>
              </a:rPr>
              <a:t>by</a:t>
            </a:r>
            <a:r>
              <a:rPr sz="3200" spc="-2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which</a:t>
            </a:r>
            <a:r>
              <a:rPr sz="3200" spc="-60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nodes </a:t>
            </a:r>
            <a:r>
              <a:rPr sz="3200" dirty="0">
                <a:latin typeface="Carlito"/>
                <a:cs typeface="Carlito"/>
              </a:rPr>
              <a:t>regulate</a:t>
            </a:r>
            <a:r>
              <a:rPr sz="3200" spc="-10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their</a:t>
            </a:r>
            <a:r>
              <a:rPr sz="3200" spc="-80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transmission</a:t>
            </a:r>
            <a:r>
              <a:rPr sz="3200" spc="-6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into</a:t>
            </a:r>
            <a:r>
              <a:rPr sz="3200" spc="-10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the</a:t>
            </a:r>
            <a:r>
              <a:rPr sz="3200" spc="-9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shared broadcast</a:t>
            </a:r>
            <a:r>
              <a:rPr sz="3200" spc="-12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channel.</a:t>
            </a:r>
            <a:endParaRPr sz="3200">
              <a:latin typeface="Carlito"/>
              <a:cs typeface="Carlito"/>
            </a:endParaRPr>
          </a:p>
          <a:p>
            <a:pPr marL="356870" marR="5080" indent="-34480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6870" algn="l"/>
              </a:tabLst>
            </a:pPr>
            <a:r>
              <a:rPr sz="3200" dirty="0">
                <a:latin typeface="Carlito"/>
                <a:cs typeface="Carlito"/>
              </a:rPr>
              <a:t>Multiple</a:t>
            </a:r>
            <a:r>
              <a:rPr sz="3200" spc="-10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Access</a:t>
            </a:r>
            <a:r>
              <a:rPr sz="3200" spc="-9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Protocols</a:t>
            </a:r>
            <a:r>
              <a:rPr sz="3200" spc="-4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are</a:t>
            </a:r>
            <a:r>
              <a:rPr sz="3200" spc="-8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needed</a:t>
            </a:r>
            <a:r>
              <a:rPr sz="3200" spc="-8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in</a:t>
            </a:r>
            <a:r>
              <a:rPr sz="3200" spc="-70" dirty="0">
                <a:latin typeface="Carlito"/>
                <a:cs typeface="Carlito"/>
              </a:rPr>
              <a:t> </a:t>
            </a:r>
            <a:r>
              <a:rPr sz="3200" spc="-50" dirty="0">
                <a:latin typeface="Carlito"/>
                <a:cs typeface="Carlito"/>
              </a:rPr>
              <a:t>a </a:t>
            </a:r>
            <a:r>
              <a:rPr sz="3200" dirty="0">
                <a:latin typeface="Carlito"/>
                <a:cs typeface="Carlito"/>
              </a:rPr>
              <a:t>wide</a:t>
            </a:r>
            <a:r>
              <a:rPr sz="3200" spc="-10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variety</a:t>
            </a:r>
            <a:r>
              <a:rPr sz="3200" spc="-9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of</a:t>
            </a:r>
            <a:r>
              <a:rPr sz="3200" spc="-114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network</a:t>
            </a:r>
            <a:r>
              <a:rPr sz="3200" spc="-9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settings,</a:t>
            </a:r>
            <a:r>
              <a:rPr sz="3200" spc="-9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including </a:t>
            </a:r>
            <a:r>
              <a:rPr sz="3200" dirty="0">
                <a:latin typeface="Carlito"/>
                <a:cs typeface="Carlito"/>
              </a:rPr>
              <a:t>both</a:t>
            </a:r>
            <a:r>
              <a:rPr sz="3200" spc="-10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wired</a:t>
            </a:r>
            <a:r>
              <a:rPr sz="3200" spc="-12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and</a:t>
            </a:r>
            <a:r>
              <a:rPr sz="3200" spc="-10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wireless</a:t>
            </a:r>
            <a:r>
              <a:rPr sz="3200" spc="-114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access</a:t>
            </a:r>
            <a:r>
              <a:rPr sz="3200" spc="-114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networks,</a:t>
            </a:r>
            <a:r>
              <a:rPr sz="3200" spc="-60" dirty="0">
                <a:latin typeface="Carlito"/>
                <a:cs typeface="Carlito"/>
              </a:rPr>
              <a:t> </a:t>
            </a:r>
            <a:r>
              <a:rPr sz="3200" spc="-25" dirty="0">
                <a:latin typeface="Carlito"/>
                <a:cs typeface="Carlito"/>
              </a:rPr>
              <a:t>and </a:t>
            </a:r>
            <a:r>
              <a:rPr sz="3200" dirty="0">
                <a:latin typeface="Carlito"/>
                <a:cs typeface="Carlito"/>
              </a:rPr>
              <a:t>satellite</a:t>
            </a:r>
            <a:r>
              <a:rPr sz="3200" spc="-17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networks.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30605">
              <a:lnSpc>
                <a:spcPct val="100000"/>
              </a:lnSpc>
              <a:spcBef>
                <a:spcPts val="95"/>
              </a:spcBef>
            </a:pPr>
            <a:r>
              <a:rPr dirty="0"/>
              <a:t>Multiple</a:t>
            </a:r>
            <a:r>
              <a:rPr spc="-50" dirty="0"/>
              <a:t> </a:t>
            </a:r>
            <a:r>
              <a:rPr dirty="0"/>
              <a:t>Access</a:t>
            </a:r>
            <a:r>
              <a:rPr spc="-75" dirty="0"/>
              <a:t> </a:t>
            </a:r>
            <a:r>
              <a:rPr spc="-10" dirty="0"/>
              <a:t>Protocols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5618" y="1225346"/>
            <a:ext cx="6363467" cy="509147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30605">
              <a:lnSpc>
                <a:spcPct val="100000"/>
              </a:lnSpc>
              <a:spcBef>
                <a:spcPts val="95"/>
              </a:spcBef>
            </a:pPr>
            <a:r>
              <a:rPr dirty="0"/>
              <a:t>Multiple</a:t>
            </a:r>
            <a:r>
              <a:rPr spc="-50" dirty="0"/>
              <a:t> </a:t>
            </a:r>
            <a:r>
              <a:rPr dirty="0"/>
              <a:t>Access</a:t>
            </a:r>
            <a:r>
              <a:rPr spc="-75" dirty="0"/>
              <a:t> </a:t>
            </a:r>
            <a:r>
              <a:rPr spc="-10" dirty="0"/>
              <a:t>Protocols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563700"/>
            <a:ext cx="8067040" cy="432117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56870" marR="102870" indent="-344805">
              <a:lnSpc>
                <a:spcPct val="90000"/>
              </a:lnSpc>
              <a:spcBef>
                <a:spcPts val="459"/>
              </a:spcBef>
              <a:buFont typeface="Arial"/>
              <a:buChar char="•"/>
              <a:tabLst>
                <a:tab pos="356870" algn="l"/>
              </a:tabLst>
            </a:pPr>
            <a:r>
              <a:rPr sz="3000" dirty="0">
                <a:latin typeface="Carlito"/>
                <a:cs typeface="Carlito"/>
              </a:rPr>
              <a:t>A</a:t>
            </a:r>
            <a:r>
              <a:rPr sz="3000" spc="-30" dirty="0">
                <a:latin typeface="Carlito"/>
                <a:cs typeface="Carlito"/>
              </a:rPr>
              <a:t> </a:t>
            </a:r>
            <a:r>
              <a:rPr sz="3000" dirty="0">
                <a:latin typeface="Carlito"/>
                <a:cs typeface="Carlito"/>
              </a:rPr>
              <a:t>multiple</a:t>
            </a:r>
            <a:r>
              <a:rPr sz="3000" spc="-110" dirty="0">
                <a:latin typeface="Carlito"/>
                <a:cs typeface="Carlito"/>
              </a:rPr>
              <a:t> </a:t>
            </a:r>
            <a:r>
              <a:rPr sz="3000" dirty="0">
                <a:latin typeface="Carlito"/>
                <a:cs typeface="Carlito"/>
              </a:rPr>
              <a:t>access</a:t>
            </a:r>
            <a:r>
              <a:rPr sz="3000" spc="-25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protocol</a:t>
            </a:r>
            <a:r>
              <a:rPr sz="3000" spc="-80" dirty="0">
                <a:latin typeface="Carlito"/>
                <a:cs typeface="Carlito"/>
              </a:rPr>
              <a:t> </a:t>
            </a:r>
            <a:r>
              <a:rPr sz="3000" dirty="0">
                <a:latin typeface="Carlito"/>
                <a:cs typeface="Carlito"/>
              </a:rPr>
              <a:t>for</a:t>
            </a:r>
            <a:r>
              <a:rPr sz="3000" spc="-5" dirty="0">
                <a:latin typeface="Carlito"/>
                <a:cs typeface="Carlito"/>
              </a:rPr>
              <a:t> </a:t>
            </a:r>
            <a:r>
              <a:rPr sz="3000" dirty="0">
                <a:latin typeface="Carlito"/>
                <a:cs typeface="Carlito"/>
              </a:rPr>
              <a:t>a</a:t>
            </a:r>
            <a:r>
              <a:rPr sz="3000" spc="-35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broadcast </a:t>
            </a:r>
            <a:r>
              <a:rPr sz="3000" dirty="0">
                <a:latin typeface="Carlito"/>
                <a:cs typeface="Carlito"/>
              </a:rPr>
              <a:t>channel</a:t>
            </a:r>
            <a:r>
              <a:rPr sz="3000" spc="-100" dirty="0">
                <a:latin typeface="Carlito"/>
                <a:cs typeface="Carlito"/>
              </a:rPr>
              <a:t> </a:t>
            </a:r>
            <a:r>
              <a:rPr sz="3000" dirty="0">
                <a:latin typeface="Carlito"/>
                <a:cs typeface="Carlito"/>
              </a:rPr>
              <a:t>of</a:t>
            </a:r>
            <a:r>
              <a:rPr sz="3000" spc="-50" dirty="0">
                <a:latin typeface="Carlito"/>
                <a:cs typeface="Carlito"/>
              </a:rPr>
              <a:t> </a:t>
            </a:r>
            <a:r>
              <a:rPr sz="3000" dirty="0">
                <a:latin typeface="Carlito"/>
                <a:cs typeface="Carlito"/>
              </a:rPr>
              <a:t>rate</a:t>
            </a:r>
            <a:r>
              <a:rPr sz="3000" spc="-45" dirty="0">
                <a:latin typeface="Carlito"/>
                <a:cs typeface="Carlito"/>
              </a:rPr>
              <a:t> </a:t>
            </a:r>
            <a:r>
              <a:rPr sz="3000" i="1" dirty="0">
                <a:latin typeface="Carlito"/>
                <a:cs typeface="Carlito"/>
              </a:rPr>
              <a:t>R</a:t>
            </a:r>
            <a:r>
              <a:rPr sz="3000" i="1" spc="-50" dirty="0">
                <a:latin typeface="Carlito"/>
                <a:cs typeface="Carlito"/>
              </a:rPr>
              <a:t> </a:t>
            </a:r>
            <a:r>
              <a:rPr sz="3000" dirty="0">
                <a:latin typeface="Carlito"/>
                <a:cs typeface="Carlito"/>
              </a:rPr>
              <a:t>bits</a:t>
            </a:r>
            <a:r>
              <a:rPr sz="3000" spc="-75" dirty="0">
                <a:latin typeface="Carlito"/>
                <a:cs typeface="Carlito"/>
              </a:rPr>
              <a:t> </a:t>
            </a:r>
            <a:r>
              <a:rPr sz="3000" dirty="0">
                <a:latin typeface="Carlito"/>
                <a:cs typeface="Carlito"/>
              </a:rPr>
              <a:t>per</a:t>
            </a:r>
            <a:r>
              <a:rPr sz="3000" spc="-75" dirty="0">
                <a:latin typeface="Carlito"/>
                <a:cs typeface="Carlito"/>
              </a:rPr>
              <a:t> </a:t>
            </a:r>
            <a:r>
              <a:rPr sz="3000" dirty="0">
                <a:latin typeface="Carlito"/>
                <a:cs typeface="Carlito"/>
              </a:rPr>
              <a:t>second</a:t>
            </a:r>
            <a:r>
              <a:rPr sz="3000" spc="-70" dirty="0">
                <a:latin typeface="Carlito"/>
                <a:cs typeface="Carlito"/>
              </a:rPr>
              <a:t> </a:t>
            </a:r>
            <a:r>
              <a:rPr sz="3000" dirty="0">
                <a:latin typeface="Carlito"/>
                <a:cs typeface="Carlito"/>
              </a:rPr>
              <a:t>should</a:t>
            </a:r>
            <a:r>
              <a:rPr sz="3000" spc="-65" dirty="0">
                <a:latin typeface="Carlito"/>
                <a:cs typeface="Carlito"/>
              </a:rPr>
              <a:t> </a:t>
            </a:r>
            <a:r>
              <a:rPr sz="3000" dirty="0">
                <a:latin typeface="Carlito"/>
                <a:cs typeface="Carlito"/>
              </a:rPr>
              <a:t>have</a:t>
            </a:r>
            <a:r>
              <a:rPr sz="3000" spc="-80" dirty="0">
                <a:latin typeface="Carlito"/>
                <a:cs typeface="Carlito"/>
              </a:rPr>
              <a:t> </a:t>
            </a:r>
            <a:r>
              <a:rPr sz="3000" spc="-25" dirty="0">
                <a:latin typeface="Carlito"/>
                <a:cs typeface="Carlito"/>
              </a:rPr>
              <a:t>the </a:t>
            </a:r>
            <a:r>
              <a:rPr sz="3000" spc="-10" dirty="0">
                <a:latin typeface="Carlito"/>
                <a:cs typeface="Carlito"/>
              </a:rPr>
              <a:t>following</a:t>
            </a:r>
            <a:r>
              <a:rPr sz="3000" spc="-100" dirty="0">
                <a:latin typeface="Carlito"/>
                <a:cs typeface="Carlito"/>
              </a:rPr>
              <a:t> </a:t>
            </a:r>
            <a:r>
              <a:rPr sz="3000" dirty="0">
                <a:latin typeface="Carlito"/>
                <a:cs typeface="Carlito"/>
              </a:rPr>
              <a:t>desirable</a:t>
            </a:r>
            <a:r>
              <a:rPr sz="3000" spc="-105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characteristics:</a:t>
            </a:r>
            <a:endParaRPr sz="3000">
              <a:latin typeface="Carlito"/>
              <a:cs typeface="Carlito"/>
            </a:endParaRPr>
          </a:p>
          <a:p>
            <a:pPr marL="756285" marR="441959" lvl="1" indent="-287020">
              <a:lnSpc>
                <a:spcPts val="2810"/>
              </a:lnSpc>
              <a:spcBef>
                <a:spcPts val="685"/>
              </a:spcBef>
              <a:buFont typeface="Arial"/>
              <a:buChar char="–"/>
              <a:tabLst>
                <a:tab pos="756285" algn="l"/>
              </a:tabLst>
            </a:pPr>
            <a:r>
              <a:rPr sz="2600" dirty="0">
                <a:latin typeface="Carlito"/>
                <a:cs typeface="Carlito"/>
              </a:rPr>
              <a:t>1.</a:t>
            </a:r>
            <a:r>
              <a:rPr sz="2600" spc="-4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When</a:t>
            </a:r>
            <a:r>
              <a:rPr sz="2600" spc="-5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only</a:t>
            </a:r>
            <a:r>
              <a:rPr sz="2600" spc="-6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one</a:t>
            </a:r>
            <a:r>
              <a:rPr sz="2600" spc="-4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node</a:t>
            </a:r>
            <a:r>
              <a:rPr sz="2600" spc="-5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has</a:t>
            </a:r>
            <a:r>
              <a:rPr sz="2600" spc="-4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data</a:t>
            </a:r>
            <a:r>
              <a:rPr sz="2600" spc="-3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to</a:t>
            </a:r>
            <a:r>
              <a:rPr sz="2600" spc="-3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send,</a:t>
            </a:r>
            <a:r>
              <a:rPr sz="2600" spc="-5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that</a:t>
            </a:r>
            <a:r>
              <a:rPr sz="2600" spc="-45" dirty="0">
                <a:latin typeface="Carlito"/>
                <a:cs typeface="Carlito"/>
              </a:rPr>
              <a:t> </a:t>
            </a:r>
            <a:r>
              <a:rPr sz="2600" spc="-20" dirty="0">
                <a:latin typeface="Carlito"/>
                <a:cs typeface="Carlito"/>
              </a:rPr>
              <a:t>node </a:t>
            </a:r>
            <a:r>
              <a:rPr sz="2600" dirty="0">
                <a:latin typeface="Carlito"/>
                <a:cs typeface="Carlito"/>
              </a:rPr>
              <a:t>has</a:t>
            </a:r>
            <a:r>
              <a:rPr sz="2600" spc="-3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a</a:t>
            </a:r>
            <a:r>
              <a:rPr sz="2600" spc="-30" dirty="0">
                <a:latin typeface="Carlito"/>
                <a:cs typeface="Carlito"/>
              </a:rPr>
              <a:t> </a:t>
            </a:r>
            <a:r>
              <a:rPr sz="2600" spc="-10" dirty="0">
                <a:latin typeface="Carlito"/>
                <a:cs typeface="Carlito"/>
              </a:rPr>
              <a:t>throughput</a:t>
            </a:r>
            <a:r>
              <a:rPr sz="2600" spc="-2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of</a:t>
            </a:r>
            <a:r>
              <a:rPr sz="2600" spc="10" dirty="0">
                <a:latin typeface="Carlito"/>
                <a:cs typeface="Carlito"/>
              </a:rPr>
              <a:t> </a:t>
            </a:r>
            <a:r>
              <a:rPr sz="2600" i="1" dirty="0">
                <a:latin typeface="Carlito"/>
                <a:cs typeface="Carlito"/>
              </a:rPr>
              <a:t>R</a:t>
            </a:r>
            <a:r>
              <a:rPr sz="2600" i="1" spc="-35" dirty="0">
                <a:latin typeface="Carlito"/>
                <a:cs typeface="Carlito"/>
              </a:rPr>
              <a:t> </a:t>
            </a:r>
            <a:r>
              <a:rPr sz="2600" spc="-20" dirty="0">
                <a:latin typeface="Carlito"/>
                <a:cs typeface="Carlito"/>
              </a:rPr>
              <a:t>bps.</a:t>
            </a:r>
            <a:endParaRPr sz="2600">
              <a:latin typeface="Carlito"/>
              <a:cs typeface="Carlito"/>
            </a:endParaRPr>
          </a:p>
          <a:p>
            <a:pPr marL="756285" marR="5080" lvl="1" indent="-287020">
              <a:lnSpc>
                <a:spcPct val="90000"/>
              </a:lnSpc>
              <a:spcBef>
                <a:spcPts val="580"/>
              </a:spcBef>
              <a:buFont typeface="Arial"/>
              <a:buChar char="–"/>
              <a:tabLst>
                <a:tab pos="756285" algn="l"/>
              </a:tabLst>
            </a:pPr>
            <a:r>
              <a:rPr sz="2600" dirty="0">
                <a:latin typeface="Carlito"/>
                <a:cs typeface="Carlito"/>
              </a:rPr>
              <a:t>2.</a:t>
            </a:r>
            <a:r>
              <a:rPr sz="2600" spc="-4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When</a:t>
            </a:r>
            <a:r>
              <a:rPr sz="2600" spc="-35" dirty="0">
                <a:latin typeface="Carlito"/>
                <a:cs typeface="Carlito"/>
              </a:rPr>
              <a:t> </a:t>
            </a:r>
            <a:r>
              <a:rPr sz="2600" i="1" dirty="0">
                <a:latin typeface="Carlito"/>
                <a:cs typeface="Carlito"/>
              </a:rPr>
              <a:t>M</a:t>
            </a:r>
            <a:r>
              <a:rPr sz="2600" i="1" spc="-4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nodes</a:t>
            </a:r>
            <a:r>
              <a:rPr sz="2600" spc="-6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have</a:t>
            </a:r>
            <a:r>
              <a:rPr sz="2600" spc="-5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data</a:t>
            </a:r>
            <a:r>
              <a:rPr sz="2600" spc="-3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to</a:t>
            </a:r>
            <a:r>
              <a:rPr sz="2600" spc="-3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send,</a:t>
            </a:r>
            <a:r>
              <a:rPr sz="2600" spc="-6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each</a:t>
            </a:r>
            <a:r>
              <a:rPr sz="2600" spc="-5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of</a:t>
            </a:r>
            <a:r>
              <a:rPr sz="2600" spc="-55" dirty="0">
                <a:latin typeface="Carlito"/>
                <a:cs typeface="Carlito"/>
              </a:rPr>
              <a:t> </a:t>
            </a:r>
            <a:r>
              <a:rPr sz="2600" spc="-10" dirty="0">
                <a:latin typeface="Carlito"/>
                <a:cs typeface="Carlito"/>
              </a:rPr>
              <a:t>these </a:t>
            </a:r>
            <a:r>
              <a:rPr sz="2600" dirty="0">
                <a:latin typeface="Carlito"/>
                <a:cs typeface="Carlito"/>
              </a:rPr>
              <a:t>nodes</a:t>
            </a:r>
            <a:r>
              <a:rPr sz="2600" spc="-6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has</a:t>
            </a:r>
            <a:r>
              <a:rPr sz="2600" spc="-3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a</a:t>
            </a:r>
            <a:r>
              <a:rPr sz="2600" spc="-4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throughput</a:t>
            </a:r>
            <a:r>
              <a:rPr sz="2600" spc="-1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of</a:t>
            </a:r>
            <a:r>
              <a:rPr sz="2600" spc="-25" dirty="0">
                <a:latin typeface="Carlito"/>
                <a:cs typeface="Carlito"/>
              </a:rPr>
              <a:t> </a:t>
            </a:r>
            <a:r>
              <a:rPr sz="2600" i="1" dirty="0">
                <a:latin typeface="Carlito"/>
                <a:cs typeface="Carlito"/>
              </a:rPr>
              <a:t>R</a:t>
            </a:r>
            <a:r>
              <a:rPr sz="2600" dirty="0">
                <a:latin typeface="Carlito"/>
                <a:cs typeface="Carlito"/>
              </a:rPr>
              <a:t>/</a:t>
            </a:r>
            <a:r>
              <a:rPr sz="2600" i="1" dirty="0">
                <a:latin typeface="Carlito"/>
                <a:cs typeface="Carlito"/>
              </a:rPr>
              <a:t>M</a:t>
            </a:r>
            <a:r>
              <a:rPr sz="2600" i="1" spc="-6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bps.</a:t>
            </a:r>
            <a:r>
              <a:rPr sz="2600" spc="-1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This</a:t>
            </a:r>
            <a:r>
              <a:rPr sz="2600" spc="-5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need</a:t>
            </a:r>
            <a:r>
              <a:rPr sz="2600" spc="-65" dirty="0">
                <a:latin typeface="Carlito"/>
                <a:cs typeface="Carlito"/>
              </a:rPr>
              <a:t> </a:t>
            </a:r>
            <a:r>
              <a:rPr sz="2600" spc="-25" dirty="0">
                <a:latin typeface="Carlito"/>
                <a:cs typeface="Carlito"/>
              </a:rPr>
              <a:t>not </a:t>
            </a:r>
            <a:r>
              <a:rPr sz="2600" dirty="0">
                <a:latin typeface="Carlito"/>
                <a:cs typeface="Carlito"/>
              </a:rPr>
              <a:t>necessarily</a:t>
            </a:r>
            <a:r>
              <a:rPr sz="2600" spc="-6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imply</a:t>
            </a:r>
            <a:r>
              <a:rPr sz="2600" spc="-6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that</a:t>
            </a:r>
            <a:r>
              <a:rPr sz="2600" spc="-3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each</a:t>
            </a:r>
            <a:r>
              <a:rPr sz="2600" spc="-5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of</a:t>
            </a:r>
            <a:r>
              <a:rPr sz="2600" spc="-6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the</a:t>
            </a:r>
            <a:r>
              <a:rPr sz="2600" spc="-40" dirty="0">
                <a:latin typeface="Carlito"/>
                <a:cs typeface="Carlito"/>
              </a:rPr>
              <a:t> </a:t>
            </a:r>
            <a:r>
              <a:rPr sz="2600" i="1" dirty="0">
                <a:latin typeface="Carlito"/>
                <a:cs typeface="Carlito"/>
              </a:rPr>
              <a:t>M</a:t>
            </a:r>
            <a:r>
              <a:rPr sz="2600" i="1" spc="-3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nodes</a:t>
            </a:r>
            <a:r>
              <a:rPr sz="2600" spc="-60" dirty="0">
                <a:latin typeface="Carlito"/>
                <a:cs typeface="Carlito"/>
              </a:rPr>
              <a:t> </a:t>
            </a:r>
            <a:r>
              <a:rPr sz="2600" spc="-10" dirty="0">
                <a:latin typeface="Carlito"/>
                <a:cs typeface="Carlito"/>
              </a:rPr>
              <a:t>always</a:t>
            </a:r>
            <a:r>
              <a:rPr sz="2600" spc="-45" dirty="0">
                <a:latin typeface="Carlito"/>
                <a:cs typeface="Carlito"/>
              </a:rPr>
              <a:t> </a:t>
            </a:r>
            <a:r>
              <a:rPr sz="2600" spc="-25" dirty="0">
                <a:latin typeface="Carlito"/>
                <a:cs typeface="Carlito"/>
              </a:rPr>
              <a:t>has </a:t>
            </a:r>
            <a:r>
              <a:rPr sz="2600" dirty="0">
                <a:latin typeface="Carlito"/>
                <a:cs typeface="Carlito"/>
              </a:rPr>
              <a:t>an</a:t>
            </a:r>
            <a:r>
              <a:rPr sz="2600" spc="-75" dirty="0">
                <a:latin typeface="Carlito"/>
                <a:cs typeface="Carlito"/>
              </a:rPr>
              <a:t> </a:t>
            </a:r>
            <a:r>
              <a:rPr sz="2600" spc="-10" dirty="0">
                <a:latin typeface="Carlito"/>
                <a:cs typeface="Carlito"/>
              </a:rPr>
              <a:t>instantaneous</a:t>
            </a:r>
            <a:r>
              <a:rPr sz="2600" spc="-9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rate</a:t>
            </a:r>
            <a:r>
              <a:rPr sz="2600" spc="-6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of</a:t>
            </a:r>
            <a:r>
              <a:rPr sz="2600" spc="-45" dirty="0">
                <a:latin typeface="Carlito"/>
                <a:cs typeface="Carlito"/>
              </a:rPr>
              <a:t> </a:t>
            </a:r>
            <a:r>
              <a:rPr sz="2600" i="1" dirty="0">
                <a:latin typeface="Carlito"/>
                <a:cs typeface="Carlito"/>
              </a:rPr>
              <a:t>R</a:t>
            </a:r>
            <a:r>
              <a:rPr sz="2600" dirty="0">
                <a:latin typeface="Carlito"/>
                <a:cs typeface="Carlito"/>
              </a:rPr>
              <a:t>/</a:t>
            </a:r>
            <a:r>
              <a:rPr sz="2600" i="1" dirty="0">
                <a:latin typeface="Carlito"/>
                <a:cs typeface="Carlito"/>
              </a:rPr>
              <a:t>M,</a:t>
            </a:r>
            <a:r>
              <a:rPr sz="2600" i="1" spc="-5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but</a:t>
            </a:r>
            <a:r>
              <a:rPr sz="2600" spc="-6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rather</a:t>
            </a:r>
            <a:r>
              <a:rPr sz="2600" spc="-7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that</a:t>
            </a:r>
            <a:r>
              <a:rPr sz="2600" spc="-65" dirty="0">
                <a:latin typeface="Carlito"/>
                <a:cs typeface="Carlito"/>
              </a:rPr>
              <a:t> </a:t>
            </a:r>
            <a:r>
              <a:rPr sz="2600" spc="-20" dirty="0">
                <a:latin typeface="Carlito"/>
                <a:cs typeface="Carlito"/>
              </a:rPr>
              <a:t>each </a:t>
            </a:r>
            <a:r>
              <a:rPr sz="2600" dirty="0">
                <a:latin typeface="Carlito"/>
                <a:cs typeface="Carlito"/>
              </a:rPr>
              <a:t>node</a:t>
            </a:r>
            <a:r>
              <a:rPr sz="2600" spc="-9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should</a:t>
            </a:r>
            <a:r>
              <a:rPr sz="2600" spc="-9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have</a:t>
            </a:r>
            <a:r>
              <a:rPr sz="2600" spc="-8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an</a:t>
            </a:r>
            <a:r>
              <a:rPr sz="2600" spc="-75" dirty="0">
                <a:latin typeface="Carlito"/>
                <a:cs typeface="Carlito"/>
              </a:rPr>
              <a:t> </a:t>
            </a:r>
            <a:r>
              <a:rPr sz="2600" spc="-10" dirty="0">
                <a:latin typeface="Carlito"/>
                <a:cs typeface="Carlito"/>
              </a:rPr>
              <a:t>average</a:t>
            </a:r>
            <a:r>
              <a:rPr sz="2600" spc="-85" dirty="0">
                <a:latin typeface="Carlito"/>
                <a:cs typeface="Carlito"/>
              </a:rPr>
              <a:t> </a:t>
            </a:r>
            <a:r>
              <a:rPr sz="2600" spc="-10" dirty="0">
                <a:latin typeface="Carlito"/>
                <a:cs typeface="Carlito"/>
              </a:rPr>
              <a:t>transmission</a:t>
            </a:r>
            <a:r>
              <a:rPr sz="2600" spc="-7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rate</a:t>
            </a:r>
            <a:r>
              <a:rPr sz="2600" spc="-7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of</a:t>
            </a:r>
            <a:r>
              <a:rPr sz="2600" spc="-60" dirty="0">
                <a:latin typeface="Carlito"/>
                <a:cs typeface="Carlito"/>
              </a:rPr>
              <a:t> </a:t>
            </a:r>
            <a:r>
              <a:rPr sz="2600" i="1" spc="-25" dirty="0">
                <a:latin typeface="Carlito"/>
                <a:cs typeface="Carlito"/>
              </a:rPr>
              <a:t>R</a:t>
            </a:r>
            <a:r>
              <a:rPr sz="2600" spc="-25" dirty="0">
                <a:latin typeface="Carlito"/>
                <a:cs typeface="Carlito"/>
              </a:rPr>
              <a:t>/</a:t>
            </a:r>
            <a:r>
              <a:rPr sz="2600" i="1" spc="-25" dirty="0">
                <a:latin typeface="Carlito"/>
                <a:cs typeface="Carlito"/>
              </a:rPr>
              <a:t>M </a:t>
            </a:r>
            <a:r>
              <a:rPr sz="2600" dirty="0">
                <a:latin typeface="Carlito"/>
                <a:cs typeface="Carlito"/>
              </a:rPr>
              <a:t>over</a:t>
            </a:r>
            <a:r>
              <a:rPr sz="2600" spc="-8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some</a:t>
            </a:r>
            <a:r>
              <a:rPr sz="2600" spc="-6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suitably</a:t>
            </a:r>
            <a:r>
              <a:rPr sz="2600" spc="-8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defined</a:t>
            </a:r>
            <a:r>
              <a:rPr sz="2600" spc="-10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interval</a:t>
            </a:r>
            <a:r>
              <a:rPr sz="2600" spc="-6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of</a:t>
            </a:r>
            <a:r>
              <a:rPr sz="2600" spc="-65" dirty="0">
                <a:latin typeface="Carlito"/>
                <a:cs typeface="Carlito"/>
              </a:rPr>
              <a:t> </a:t>
            </a:r>
            <a:r>
              <a:rPr sz="2600" spc="-10" dirty="0">
                <a:latin typeface="Carlito"/>
                <a:cs typeface="Carlito"/>
              </a:rPr>
              <a:t>time.</a:t>
            </a:r>
            <a:endParaRPr sz="260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30605">
              <a:lnSpc>
                <a:spcPct val="100000"/>
              </a:lnSpc>
              <a:spcBef>
                <a:spcPts val="95"/>
              </a:spcBef>
            </a:pPr>
            <a:r>
              <a:rPr dirty="0"/>
              <a:t>Multiple</a:t>
            </a:r>
            <a:r>
              <a:rPr spc="-50" dirty="0"/>
              <a:t> </a:t>
            </a:r>
            <a:r>
              <a:rPr dirty="0"/>
              <a:t>Access</a:t>
            </a:r>
            <a:r>
              <a:rPr spc="-75" dirty="0"/>
              <a:t> </a:t>
            </a:r>
            <a:r>
              <a:rPr spc="-10" dirty="0"/>
              <a:t>Protocols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444" y="1609420"/>
            <a:ext cx="7584440" cy="270202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97180" marR="5080" indent="-285115">
              <a:lnSpc>
                <a:spcPct val="100000"/>
              </a:lnSpc>
              <a:spcBef>
                <a:spcPts val="110"/>
              </a:spcBef>
              <a:buFont typeface="Arial"/>
              <a:buChar char="–"/>
              <a:tabLst>
                <a:tab pos="299085" algn="l"/>
              </a:tabLst>
            </a:pPr>
            <a:r>
              <a:rPr sz="2800" dirty="0">
                <a:latin typeface="Carlito"/>
                <a:cs typeface="Carlito"/>
              </a:rPr>
              <a:t>3.</a:t>
            </a:r>
            <a:r>
              <a:rPr sz="2800" spc="-3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The</a:t>
            </a:r>
            <a:r>
              <a:rPr sz="2800" spc="-7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protocol</a:t>
            </a:r>
            <a:r>
              <a:rPr sz="2800" spc="-7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is</a:t>
            </a:r>
            <a:r>
              <a:rPr sz="2800" spc="-5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decentralized;</a:t>
            </a:r>
            <a:r>
              <a:rPr sz="2800" spc="-4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that</a:t>
            </a:r>
            <a:r>
              <a:rPr sz="2800" spc="-5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is,</a:t>
            </a:r>
            <a:r>
              <a:rPr sz="2800" spc="-5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there</a:t>
            </a:r>
            <a:r>
              <a:rPr sz="2800" spc="-7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is</a:t>
            </a:r>
            <a:r>
              <a:rPr sz="2800" spc="-45" dirty="0">
                <a:latin typeface="Carlito"/>
                <a:cs typeface="Carlito"/>
              </a:rPr>
              <a:t> </a:t>
            </a:r>
            <a:r>
              <a:rPr sz="2800" spc="-25" dirty="0">
                <a:latin typeface="Carlito"/>
                <a:cs typeface="Carlito"/>
              </a:rPr>
              <a:t>no 	</a:t>
            </a:r>
            <a:r>
              <a:rPr sz="2800" dirty="0">
                <a:latin typeface="Carlito"/>
                <a:cs typeface="Carlito"/>
              </a:rPr>
              <a:t>master</a:t>
            </a:r>
            <a:r>
              <a:rPr sz="2800" spc="-9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node</a:t>
            </a:r>
            <a:r>
              <a:rPr sz="2800" spc="-5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that</a:t>
            </a:r>
            <a:r>
              <a:rPr sz="2800" spc="-5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represents</a:t>
            </a:r>
            <a:r>
              <a:rPr sz="2800" spc="-3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a</a:t>
            </a:r>
            <a:r>
              <a:rPr sz="2800" spc="-6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single</a:t>
            </a:r>
            <a:r>
              <a:rPr sz="2800" spc="-10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point</a:t>
            </a:r>
            <a:r>
              <a:rPr sz="2800" spc="-50" dirty="0">
                <a:latin typeface="Carlito"/>
                <a:cs typeface="Carlito"/>
              </a:rPr>
              <a:t> </a:t>
            </a:r>
            <a:r>
              <a:rPr sz="2800" spc="-25" dirty="0">
                <a:latin typeface="Carlito"/>
                <a:cs typeface="Carlito"/>
              </a:rPr>
              <a:t>of 	</a:t>
            </a:r>
            <a:r>
              <a:rPr sz="2800" dirty="0">
                <a:latin typeface="Carlito"/>
                <a:cs typeface="Carlito"/>
              </a:rPr>
              <a:t>failure</a:t>
            </a:r>
            <a:r>
              <a:rPr sz="2800" spc="-9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for</a:t>
            </a:r>
            <a:r>
              <a:rPr sz="2800" spc="-7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the</a:t>
            </a:r>
            <a:r>
              <a:rPr sz="2800" spc="-6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network</a:t>
            </a:r>
            <a:r>
              <a:rPr sz="2800" spc="-10" dirty="0" smtClean="0">
                <a:latin typeface="Carlito"/>
                <a:cs typeface="Carlito"/>
              </a:rPr>
              <a:t>.</a:t>
            </a:r>
            <a:endParaRPr lang="en-US" sz="2800" spc="-10" dirty="0" smtClean="0">
              <a:latin typeface="Carlito"/>
              <a:cs typeface="Carlito"/>
            </a:endParaRPr>
          </a:p>
          <a:p>
            <a:pPr marL="12065" marR="5080">
              <a:lnSpc>
                <a:spcPct val="100000"/>
              </a:lnSpc>
              <a:spcBef>
                <a:spcPts val="110"/>
              </a:spcBef>
              <a:tabLst>
                <a:tab pos="299085" algn="l"/>
              </a:tabLst>
            </a:pPr>
            <a:endParaRPr sz="2800" dirty="0">
              <a:latin typeface="Carlito"/>
              <a:cs typeface="Carlito"/>
            </a:endParaRPr>
          </a:p>
          <a:p>
            <a:pPr marL="297180" marR="231775" indent="-285115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299085" algn="l"/>
              </a:tabLst>
            </a:pPr>
            <a:r>
              <a:rPr sz="2800" dirty="0">
                <a:latin typeface="Carlito"/>
                <a:cs typeface="Carlito"/>
              </a:rPr>
              <a:t>4.</a:t>
            </a:r>
            <a:r>
              <a:rPr sz="2800" spc="-2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The</a:t>
            </a:r>
            <a:r>
              <a:rPr sz="2800" spc="-4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protocol</a:t>
            </a:r>
            <a:r>
              <a:rPr sz="2800" spc="-6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is</a:t>
            </a:r>
            <a:r>
              <a:rPr sz="2800" spc="-3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simple,</a:t>
            </a:r>
            <a:r>
              <a:rPr sz="2800" spc="-2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so</a:t>
            </a:r>
            <a:r>
              <a:rPr sz="2800" spc="-6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that</a:t>
            </a:r>
            <a:r>
              <a:rPr sz="2800" spc="-3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it</a:t>
            </a:r>
            <a:r>
              <a:rPr sz="2800" spc="-4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is</a:t>
            </a:r>
            <a:r>
              <a:rPr sz="2800" spc="-2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inexpensive </a:t>
            </a:r>
            <a:r>
              <a:rPr sz="2800" dirty="0" smtClean="0">
                <a:latin typeface="Carlito"/>
                <a:cs typeface="Carlito"/>
              </a:rPr>
              <a:t>to</a:t>
            </a:r>
            <a:r>
              <a:rPr sz="2800" spc="-30" dirty="0" smtClean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implement.</a:t>
            </a:r>
            <a:endParaRPr sz="2800" dirty="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30605">
              <a:lnSpc>
                <a:spcPct val="100000"/>
              </a:lnSpc>
              <a:spcBef>
                <a:spcPts val="95"/>
              </a:spcBef>
            </a:pPr>
            <a:r>
              <a:rPr dirty="0"/>
              <a:t>Multiple</a:t>
            </a:r>
            <a:r>
              <a:rPr spc="-50" dirty="0"/>
              <a:t> </a:t>
            </a:r>
            <a:r>
              <a:rPr dirty="0"/>
              <a:t>Access</a:t>
            </a:r>
            <a:r>
              <a:rPr spc="-75" dirty="0"/>
              <a:t> </a:t>
            </a:r>
            <a:r>
              <a:rPr spc="-10" dirty="0"/>
              <a:t>Protocols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511012"/>
            <a:ext cx="5358765" cy="2150110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870"/>
              </a:spcBef>
              <a:buFont typeface="Arial"/>
              <a:buChar char="•"/>
              <a:tabLst>
                <a:tab pos="356870" algn="l"/>
              </a:tabLst>
            </a:pPr>
            <a:r>
              <a:rPr sz="3200" dirty="0">
                <a:latin typeface="Carlito"/>
                <a:cs typeface="Carlito"/>
              </a:rPr>
              <a:t>There</a:t>
            </a:r>
            <a:r>
              <a:rPr sz="3200" spc="-6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are</a:t>
            </a:r>
            <a:r>
              <a:rPr sz="3200" spc="-9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three</a:t>
            </a:r>
            <a:r>
              <a:rPr sz="3200" spc="-7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categories:</a:t>
            </a:r>
            <a:endParaRPr sz="3200">
              <a:latin typeface="Carlito"/>
              <a:cs typeface="Carlito"/>
            </a:endParaRPr>
          </a:p>
          <a:p>
            <a:pPr marL="755015" lvl="1" indent="-285115">
              <a:lnSpc>
                <a:spcPct val="100000"/>
              </a:lnSpc>
              <a:spcBef>
                <a:spcPts val="690"/>
              </a:spcBef>
              <a:buFont typeface="Arial"/>
              <a:buChar char="–"/>
              <a:tabLst>
                <a:tab pos="755015" algn="l"/>
              </a:tabLst>
            </a:pPr>
            <a:r>
              <a:rPr sz="2800" b="1" dirty="0">
                <a:latin typeface="Carlito"/>
                <a:cs typeface="Carlito"/>
              </a:rPr>
              <a:t>Channel</a:t>
            </a:r>
            <a:r>
              <a:rPr sz="2800" b="1" spc="-60" dirty="0">
                <a:latin typeface="Carlito"/>
                <a:cs typeface="Carlito"/>
              </a:rPr>
              <a:t> </a:t>
            </a:r>
            <a:r>
              <a:rPr sz="2800" b="1" dirty="0">
                <a:latin typeface="Carlito"/>
                <a:cs typeface="Carlito"/>
              </a:rPr>
              <a:t>partitioning</a:t>
            </a:r>
            <a:r>
              <a:rPr sz="2800" b="1" spc="-45" dirty="0">
                <a:latin typeface="Carlito"/>
                <a:cs typeface="Carlito"/>
              </a:rPr>
              <a:t> </a:t>
            </a:r>
            <a:r>
              <a:rPr sz="2800" b="1" spc="-10" dirty="0">
                <a:latin typeface="Carlito"/>
                <a:cs typeface="Carlito"/>
              </a:rPr>
              <a:t>protocols</a:t>
            </a:r>
            <a:r>
              <a:rPr sz="2800" spc="-10" dirty="0">
                <a:latin typeface="Carlito"/>
                <a:cs typeface="Carlito"/>
              </a:rPr>
              <a:t>,</a:t>
            </a:r>
            <a:endParaRPr sz="2800">
              <a:latin typeface="Carlito"/>
              <a:cs typeface="Carlito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Font typeface="Arial"/>
              <a:buChar char="–"/>
              <a:tabLst>
                <a:tab pos="755650" algn="l"/>
              </a:tabLst>
            </a:pPr>
            <a:r>
              <a:rPr sz="2800" b="1" dirty="0">
                <a:latin typeface="Carlito"/>
                <a:cs typeface="Carlito"/>
              </a:rPr>
              <a:t>Random</a:t>
            </a:r>
            <a:r>
              <a:rPr sz="2800" b="1" spc="-85" dirty="0">
                <a:latin typeface="Carlito"/>
                <a:cs typeface="Carlito"/>
              </a:rPr>
              <a:t> </a:t>
            </a:r>
            <a:r>
              <a:rPr sz="2800" b="1" dirty="0">
                <a:latin typeface="Carlito"/>
                <a:cs typeface="Carlito"/>
              </a:rPr>
              <a:t>access</a:t>
            </a:r>
            <a:r>
              <a:rPr sz="2800" b="1" spc="-60" dirty="0">
                <a:latin typeface="Carlito"/>
                <a:cs typeface="Carlito"/>
              </a:rPr>
              <a:t> </a:t>
            </a:r>
            <a:r>
              <a:rPr sz="2800" b="1" dirty="0">
                <a:latin typeface="Carlito"/>
                <a:cs typeface="Carlito"/>
              </a:rPr>
              <a:t>protocols</a:t>
            </a:r>
            <a:r>
              <a:rPr sz="2800" dirty="0">
                <a:latin typeface="Carlito"/>
                <a:cs typeface="Carlito"/>
              </a:rPr>
              <a:t>,</a:t>
            </a:r>
            <a:r>
              <a:rPr sz="2800" spc="-95" dirty="0">
                <a:latin typeface="Carlito"/>
                <a:cs typeface="Carlito"/>
              </a:rPr>
              <a:t> </a:t>
            </a:r>
            <a:r>
              <a:rPr sz="2800" spc="-25" dirty="0">
                <a:latin typeface="Carlito"/>
                <a:cs typeface="Carlito"/>
              </a:rPr>
              <a:t>and</a:t>
            </a:r>
            <a:endParaRPr sz="2800">
              <a:latin typeface="Carlito"/>
              <a:cs typeface="Carlito"/>
            </a:endParaRPr>
          </a:p>
          <a:p>
            <a:pPr marL="755650" lvl="1" indent="-28575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5650" algn="l"/>
              </a:tabLst>
            </a:pPr>
            <a:r>
              <a:rPr sz="2800" b="1" spc="-40" dirty="0">
                <a:latin typeface="Carlito"/>
                <a:cs typeface="Carlito"/>
              </a:rPr>
              <a:t>Taking-</a:t>
            </a:r>
            <a:r>
              <a:rPr sz="2800" b="1" dirty="0">
                <a:latin typeface="Carlito"/>
                <a:cs typeface="Carlito"/>
              </a:rPr>
              <a:t>turns</a:t>
            </a:r>
            <a:r>
              <a:rPr sz="2800" b="1" spc="5" dirty="0">
                <a:latin typeface="Carlito"/>
                <a:cs typeface="Carlito"/>
              </a:rPr>
              <a:t> </a:t>
            </a:r>
            <a:r>
              <a:rPr sz="2800" b="1" spc="-10" dirty="0">
                <a:latin typeface="Carlito"/>
                <a:cs typeface="Carlito"/>
              </a:rPr>
              <a:t>protocols</a:t>
            </a:r>
            <a:r>
              <a:rPr sz="2800" spc="-10" dirty="0">
                <a:latin typeface="Carlito"/>
                <a:cs typeface="Carlito"/>
              </a:rPr>
              <a:t>.</a:t>
            </a:r>
            <a:endParaRPr sz="280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2574" y="464896"/>
            <a:ext cx="7978851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75615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Channel</a:t>
            </a:r>
            <a:r>
              <a:rPr sz="4000" spc="-200" dirty="0"/>
              <a:t> </a:t>
            </a:r>
            <a:r>
              <a:rPr sz="4000" dirty="0"/>
              <a:t>Partitioning</a:t>
            </a:r>
            <a:r>
              <a:rPr sz="4000" spc="-155" dirty="0"/>
              <a:t> </a:t>
            </a:r>
            <a:r>
              <a:rPr sz="4000" spc="-10" dirty="0"/>
              <a:t>Protocols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563700"/>
            <a:ext cx="8070850" cy="4269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indent="-344170">
              <a:lnSpc>
                <a:spcPts val="3420"/>
              </a:lnSpc>
              <a:spcBef>
                <a:spcPts val="100"/>
              </a:spcBef>
              <a:buFont typeface="Arial"/>
              <a:buChar char="•"/>
              <a:tabLst>
                <a:tab pos="356870" algn="l"/>
              </a:tabLst>
            </a:pPr>
            <a:r>
              <a:rPr sz="3000" dirty="0">
                <a:latin typeface="Carlito"/>
                <a:cs typeface="Carlito"/>
              </a:rPr>
              <a:t>There</a:t>
            </a:r>
            <a:r>
              <a:rPr sz="3000" spc="-55" dirty="0">
                <a:latin typeface="Carlito"/>
                <a:cs typeface="Carlito"/>
              </a:rPr>
              <a:t> </a:t>
            </a:r>
            <a:r>
              <a:rPr sz="3000" dirty="0">
                <a:latin typeface="Carlito"/>
                <a:cs typeface="Carlito"/>
              </a:rPr>
              <a:t>are</a:t>
            </a:r>
            <a:r>
              <a:rPr sz="3000" spc="-55" dirty="0">
                <a:latin typeface="Carlito"/>
                <a:cs typeface="Carlito"/>
              </a:rPr>
              <a:t> </a:t>
            </a:r>
            <a:r>
              <a:rPr sz="3000" dirty="0">
                <a:latin typeface="Carlito"/>
                <a:cs typeface="Carlito"/>
              </a:rPr>
              <a:t>two</a:t>
            </a:r>
            <a:r>
              <a:rPr sz="3000" spc="-45" dirty="0">
                <a:latin typeface="Carlito"/>
                <a:cs typeface="Carlito"/>
              </a:rPr>
              <a:t> </a:t>
            </a:r>
            <a:r>
              <a:rPr sz="3000" dirty="0">
                <a:latin typeface="Carlito"/>
                <a:cs typeface="Carlito"/>
              </a:rPr>
              <a:t>techniques</a:t>
            </a:r>
            <a:r>
              <a:rPr sz="3000" spc="-110" dirty="0">
                <a:latin typeface="Carlito"/>
                <a:cs typeface="Carlito"/>
              </a:rPr>
              <a:t> </a:t>
            </a:r>
            <a:r>
              <a:rPr sz="3000" dirty="0">
                <a:latin typeface="Carlito"/>
                <a:cs typeface="Carlito"/>
              </a:rPr>
              <a:t>that</a:t>
            </a:r>
            <a:r>
              <a:rPr sz="3000" spc="-70" dirty="0">
                <a:latin typeface="Carlito"/>
                <a:cs typeface="Carlito"/>
              </a:rPr>
              <a:t> </a:t>
            </a:r>
            <a:r>
              <a:rPr sz="3000" dirty="0">
                <a:latin typeface="Carlito"/>
                <a:cs typeface="Carlito"/>
              </a:rPr>
              <a:t>can</a:t>
            </a:r>
            <a:r>
              <a:rPr sz="3000" spc="-60" dirty="0">
                <a:latin typeface="Carlito"/>
                <a:cs typeface="Carlito"/>
              </a:rPr>
              <a:t> </a:t>
            </a:r>
            <a:r>
              <a:rPr sz="3000" dirty="0">
                <a:latin typeface="Carlito"/>
                <a:cs typeface="Carlito"/>
              </a:rPr>
              <a:t>be</a:t>
            </a:r>
            <a:r>
              <a:rPr sz="3000" spc="-40" dirty="0">
                <a:latin typeface="Carlito"/>
                <a:cs typeface="Carlito"/>
              </a:rPr>
              <a:t> </a:t>
            </a:r>
            <a:r>
              <a:rPr sz="3000" dirty="0">
                <a:latin typeface="Carlito"/>
                <a:cs typeface="Carlito"/>
              </a:rPr>
              <a:t>used</a:t>
            </a:r>
            <a:r>
              <a:rPr sz="3000" spc="-70" dirty="0">
                <a:latin typeface="Carlito"/>
                <a:cs typeface="Carlito"/>
              </a:rPr>
              <a:t> </a:t>
            </a:r>
            <a:r>
              <a:rPr sz="3000" spc="-25" dirty="0">
                <a:latin typeface="Carlito"/>
                <a:cs typeface="Carlito"/>
              </a:rPr>
              <a:t>to</a:t>
            </a:r>
            <a:endParaRPr sz="3000">
              <a:latin typeface="Carlito"/>
              <a:cs typeface="Carlito"/>
            </a:endParaRPr>
          </a:p>
          <a:p>
            <a:pPr marL="356870" marR="52705">
              <a:lnSpc>
                <a:spcPts val="3240"/>
              </a:lnSpc>
              <a:spcBef>
                <a:spcPts val="229"/>
              </a:spcBef>
            </a:pPr>
            <a:r>
              <a:rPr sz="3000" dirty="0">
                <a:latin typeface="Carlito"/>
                <a:cs typeface="Carlito"/>
              </a:rPr>
              <a:t>partition</a:t>
            </a:r>
            <a:r>
              <a:rPr sz="3000" spc="-95" dirty="0">
                <a:latin typeface="Carlito"/>
                <a:cs typeface="Carlito"/>
              </a:rPr>
              <a:t> </a:t>
            </a:r>
            <a:r>
              <a:rPr sz="3000" dirty="0">
                <a:latin typeface="Carlito"/>
                <a:cs typeface="Carlito"/>
              </a:rPr>
              <a:t>a</a:t>
            </a:r>
            <a:r>
              <a:rPr sz="3000" spc="-50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broadcast</a:t>
            </a:r>
            <a:r>
              <a:rPr sz="3000" spc="-95" dirty="0">
                <a:latin typeface="Carlito"/>
                <a:cs typeface="Carlito"/>
              </a:rPr>
              <a:t> </a:t>
            </a:r>
            <a:r>
              <a:rPr sz="3000" spc="-20" dirty="0">
                <a:latin typeface="Carlito"/>
                <a:cs typeface="Carlito"/>
              </a:rPr>
              <a:t>channel’s</a:t>
            </a:r>
            <a:r>
              <a:rPr sz="3000" spc="-95" dirty="0">
                <a:latin typeface="Carlito"/>
                <a:cs typeface="Carlito"/>
              </a:rPr>
              <a:t> </a:t>
            </a:r>
            <a:r>
              <a:rPr sz="3000" dirty="0">
                <a:latin typeface="Carlito"/>
                <a:cs typeface="Carlito"/>
              </a:rPr>
              <a:t>bandwidth</a:t>
            </a:r>
            <a:r>
              <a:rPr sz="3000" spc="-85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among </a:t>
            </a:r>
            <a:r>
              <a:rPr sz="3000" dirty="0">
                <a:latin typeface="Carlito"/>
                <a:cs typeface="Carlito"/>
              </a:rPr>
              <a:t>all</a:t>
            </a:r>
            <a:r>
              <a:rPr sz="3000" spc="-60" dirty="0">
                <a:latin typeface="Carlito"/>
                <a:cs typeface="Carlito"/>
              </a:rPr>
              <a:t> </a:t>
            </a:r>
            <a:r>
              <a:rPr sz="3000" dirty="0">
                <a:latin typeface="Carlito"/>
                <a:cs typeface="Carlito"/>
              </a:rPr>
              <a:t>nodes</a:t>
            </a:r>
            <a:r>
              <a:rPr sz="3000" spc="-40" dirty="0">
                <a:latin typeface="Carlito"/>
                <a:cs typeface="Carlito"/>
              </a:rPr>
              <a:t> </a:t>
            </a:r>
            <a:r>
              <a:rPr sz="3000" dirty="0">
                <a:latin typeface="Carlito"/>
                <a:cs typeface="Carlito"/>
              </a:rPr>
              <a:t>sharing</a:t>
            </a:r>
            <a:r>
              <a:rPr sz="3000" spc="-85" dirty="0">
                <a:latin typeface="Carlito"/>
                <a:cs typeface="Carlito"/>
              </a:rPr>
              <a:t> </a:t>
            </a:r>
            <a:r>
              <a:rPr sz="3000" dirty="0">
                <a:latin typeface="Carlito"/>
                <a:cs typeface="Carlito"/>
              </a:rPr>
              <a:t>that</a:t>
            </a:r>
            <a:r>
              <a:rPr sz="3000" spc="-60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channel.</a:t>
            </a:r>
            <a:endParaRPr sz="3000">
              <a:latin typeface="Carlito"/>
              <a:cs typeface="Carlito"/>
            </a:endParaRPr>
          </a:p>
          <a:p>
            <a:pPr marL="829310" lvl="1" indent="-359410">
              <a:lnSpc>
                <a:spcPct val="100000"/>
              </a:lnSpc>
              <a:spcBef>
                <a:spcPts val="285"/>
              </a:spcBef>
              <a:buFont typeface="Arial"/>
              <a:buChar char="–"/>
              <a:tabLst>
                <a:tab pos="829310" algn="l"/>
              </a:tabLst>
            </a:pPr>
            <a:r>
              <a:rPr sz="2600" spc="-10" dirty="0">
                <a:latin typeface="Carlito"/>
                <a:cs typeface="Carlito"/>
              </a:rPr>
              <a:t>Time-</a:t>
            </a:r>
            <a:r>
              <a:rPr sz="2600" dirty="0">
                <a:latin typeface="Carlito"/>
                <a:cs typeface="Carlito"/>
              </a:rPr>
              <a:t>Division</a:t>
            </a:r>
            <a:r>
              <a:rPr sz="2600" spc="-40" dirty="0">
                <a:latin typeface="Carlito"/>
                <a:cs typeface="Carlito"/>
              </a:rPr>
              <a:t> </a:t>
            </a:r>
            <a:r>
              <a:rPr sz="2600" spc="-10" dirty="0">
                <a:latin typeface="Carlito"/>
                <a:cs typeface="Carlito"/>
              </a:rPr>
              <a:t>Multiplexing</a:t>
            </a:r>
            <a:r>
              <a:rPr sz="2600" spc="-6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(TDM)</a:t>
            </a:r>
            <a:r>
              <a:rPr sz="2600" spc="-55" dirty="0">
                <a:latin typeface="Carlito"/>
                <a:cs typeface="Carlito"/>
              </a:rPr>
              <a:t> </a:t>
            </a:r>
            <a:r>
              <a:rPr sz="2600" spc="-25" dirty="0">
                <a:latin typeface="Carlito"/>
                <a:cs typeface="Carlito"/>
              </a:rPr>
              <a:t>and</a:t>
            </a:r>
            <a:endParaRPr sz="2600">
              <a:latin typeface="Carlito"/>
              <a:cs typeface="Carlito"/>
            </a:endParaRPr>
          </a:p>
          <a:p>
            <a:pPr marL="756285" lvl="1" indent="-286385">
              <a:lnSpc>
                <a:spcPct val="100000"/>
              </a:lnSpc>
              <a:spcBef>
                <a:spcPts val="310"/>
              </a:spcBef>
              <a:buFont typeface="Arial"/>
              <a:buChar char="–"/>
              <a:tabLst>
                <a:tab pos="756285" algn="l"/>
              </a:tabLst>
            </a:pPr>
            <a:r>
              <a:rPr sz="2600" spc="-10" dirty="0">
                <a:latin typeface="Carlito"/>
                <a:cs typeface="Carlito"/>
              </a:rPr>
              <a:t>Frequency-</a:t>
            </a:r>
            <a:r>
              <a:rPr sz="2600" dirty="0">
                <a:latin typeface="Carlito"/>
                <a:cs typeface="Carlito"/>
              </a:rPr>
              <a:t>Division</a:t>
            </a:r>
            <a:r>
              <a:rPr sz="2600" spc="-12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Multiplexing</a:t>
            </a:r>
            <a:r>
              <a:rPr sz="2600" spc="-75" dirty="0">
                <a:latin typeface="Carlito"/>
                <a:cs typeface="Carlito"/>
              </a:rPr>
              <a:t> </a:t>
            </a:r>
            <a:r>
              <a:rPr sz="2600" spc="-10" dirty="0">
                <a:latin typeface="Carlito"/>
                <a:cs typeface="Carlito"/>
              </a:rPr>
              <a:t>(FDM)</a:t>
            </a:r>
            <a:endParaRPr sz="2600">
              <a:latin typeface="Carlito"/>
              <a:cs typeface="Carlito"/>
            </a:endParaRPr>
          </a:p>
          <a:p>
            <a:pPr marL="356870" indent="-344170">
              <a:lnSpc>
                <a:spcPct val="100000"/>
              </a:lnSpc>
              <a:spcBef>
                <a:spcPts val="345"/>
              </a:spcBef>
              <a:buFont typeface="Arial"/>
              <a:buChar char="•"/>
              <a:tabLst>
                <a:tab pos="356870" algn="l"/>
              </a:tabLst>
            </a:pPr>
            <a:r>
              <a:rPr sz="3000" dirty="0">
                <a:latin typeface="Carlito"/>
                <a:cs typeface="Carlito"/>
              </a:rPr>
              <a:t>In</a:t>
            </a:r>
            <a:r>
              <a:rPr sz="3000" spc="-20" dirty="0">
                <a:latin typeface="Carlito"/>
                <a:cs typeface="Carlito"/>
              </a:rPr>
              <a:t> </a:t>
            </a:r>
            <a:r>
              <a:rPr sz="3000" b="1" spc="-20" dirty="0">
                <a:latin typeface="Carlito"/>
                <a:cs typeface="Carlito"/>
              </a:rPr>
              <a:t>TDM:</a:t>
            </a:r>
            <a:endParaRPr sz="3000">
              <a:latin typeface="Carlito"/>
              <a:cs typeface="Carlito"/>
            </a:endParaRPr>
          </a:p>
          <a:p>
            <a:pPr marL="756285" marR="358140" lvl="1" indent="-287020">
              <a:lnSpc>
                <a:spcPts val="2810"/>
              </a:lnSpc>
              <a:spcBef>
                <a:spcPts val="685"/>
              </a:spcBef>
              <a:buFont typeface="Arial"/>
              <a:buChar char="–"/>
              <a:tabLst>
                <a:tab pos="756285" algn="l"/>
              </a:tabLst>
            </a:pPr>
            <a:r>
              <a:rPr sz="2600" dirty="0">
                <a:latin typeface="Carlito"/>
                <a:cs typeface="Carlito"/>
              </a:rPr>
              <a:t>Suppose</a:t>
            </a:r>
            <a:r>
              <a:rPr sz="2600" spc="-6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the</a:t>
            </a:r>
            <a:r>
              <a:rPr sz="2600" spc="-5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channel</a:t>
            </a:r>
            <a:r>
              <a:rPr sz="2600" spc="-5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supports</a:t>
            </a:r>
            <a:r>
              <a:rPr sz="2600" spc="-40" dirty="0">
                <a:latin typeface="Carlito"/>
                <a:cs typeface="Carlito"/>
              </a:rPr>
              <a:t> </a:t>
            </a:r>
            <a:r>
              <a:rPr sz="2600" i="1" dirty="0">
                <a:latin typeface="Carlito"/>
                <a:cs typeface="Carlito"/>
              </a:rPr>
              <a:t>N</a:t>
            </a:r>
            <a:r>
              <a:rPr sz="2600" i="1" spc="-5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nodes</a:t>
            </a:r>
            <a:r>
              <a:rPr sz="2600" spc="-6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and</a:t>
            </a:r>
            <a:r>
              <a:rPr sz="2600" spc="-5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that</a:t>
            </a:r>
            <a:r>
              <a:rPr sz="2600" spc="-30" dirty="0">
                <a:latin typeface="Carlito"/>
                <a:cs typeface="Carlito"/>
              </a:rPr>
              <a:t> </a:t>
            </a:r>
            <a:r>
              <a:rPr sz="2600" spc="-25" dirty="0">
                <a:latin typeface="Carlito"/>
                <a:cs typeface="Carlito"/>
              </a:rPr>
              <a:t>the </a:t>
            </a:r>
            <a:r>
              <a:rPr sz="2600" spc="-10" dirty="0">
                <a:latin typeface="Carlito"/>
                <a:cs typeface="Carlito"/>
              </a:rPr>
              <a:t>transmission </a:t>
            </a:r>
            <a:r>
              <a:rPr sz="2600" dirty="0">
                <a:latin typeface="Carlito"/>
                <a:cs typeface="Carlito"/>
              </a:rPr>
              <a:t>rate</a:t>
            </a:r>
            <a:r>
              <a:rPr sz="2600" spc="-5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of</a:t>
            </a:r>
            <a:r>
              <a:rPr sz="2600" spc="-4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the</a:t>
            </a:r>
            <a:r>
              <a:rPr sz="2600" spc="-6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channel</a:t>
            </a:r>
            <a:r>
              <a:rPr sz="2600" spc="-8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is</a:t>
            </a:r>
            <a:r>
              <a:rPr sz="2600" spc="-25" dirty="0">
                <a:latin typeface="Carlito"/>
                <a:cs typeface="Carlito"/>
              </a:rPr>
              <a:t> </a:t>
            </a:r>
            <a:r>
              <a:rPr sz="2600" i="1" dirty="0">
                <a:latin typeface="Carlito"/>
                <a:cs typeface="Carlito"/>
              </a:rPr>
              <a:t>R</a:t>
            </a:r>
            <a:r>
              <a:rPr sz="2600" i="1" spc="-55" dirty="0">
                <a:latin typeface="Carlito"/>
                <a:cs typeface="Carlito"/>
              </a:rPr>
              <a:t> </a:t>
            </a:r>
            <a:r>
              <a:rPr sz="2600" spc="-20" dirty="0">
                <a:latin typeface="Carlito"/>
                <a:cs typeface="Carlito"/>
              </a:rPr>
              <a:t>bps.</a:t>
            </a:r>
            <a:endParaRPr sz="2600">
              <a:latin typeface="Carlito"/>
              <a:cs typeface="Carlito"/>
            </a:endParaRPr>
          </a:p>
          <a:p>
            <a:pPr marL="756285" marR="5080" lvl="1" indent="-287020">
              <a:lnSpc>
                <a:spcPts val="2810"/>
              </a:lnSpc>
              <a:spcBef>
                <a:spcPts val="620"/>
              </a:spcBef>
              <a:buFont typeface="Arial"/>
              <a:buChar char="–"/>
              <a:tabLst>
                <a:tab pos="756285" algn="l"/>
              </a:tabLst>
            </a:pPr>
            <a:r>
              <a:rPr sz="2600" dirty="0">
                <a:latin typeface="Carlito"/>
                <a:cs typeface="Carlito"/>
              </a:rPr>
              <a:t>TDM</a:t>
            </a:r>
            <a:r>
              <a:rPr sz="2600" spc="-7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divides</a:t>
            </a:r>
            <a:r>
              <a:rPr sz="2600" spc="-8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time</a:t>
            </a:r>
            <a:r>
              <a:rPr sz="2600" spc="-5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into</a:t>
            </a:r>
            <a:r>
              <a:rPr sz="2600" spc="-45" dirty="0">
                <a:latin typeface="Carlito"/>
                <a:cs typeface="Carlito"/>
              </a:rPr>
              <a:t> </a:t>
            </a:r>
            <a:r>
              <a:rPr sz="2600" b="1" dirty="0">
                <a:latin typeface="Carlito"/>
                <a:cs typeface="Carlito"/>
              </a:rPr>
              <a:t>time</a:t>
            </a:r>
            <a:r>
              <a:rPr sz="2600" b="1" spc="-50" dirty="0">
                <a:latin typeface="Carlito"/>
                <a:cs typeface="Carlito"/>
              </a:rPr>
              <a:t> </a:t>
            </a:r>
            <a:r>
              <a:rPr sz="2600" b="1" dirty="0">
                <a:latin typeface="Carlito"/>
                <a:cs typeface="Carlito"/>
              </a:rPr>
              <a:t>frames</a:t>
            </a:r>
            <a:r>
              <a:rPr sz="2600" b="1" spc="-4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and</a:t>
            </a:r>
            <a:r>
              <a:rPr sz="2600" spc="-7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further</a:t>
            </a:r>
            <a:r>
              <a:rPr sz="2600" spc="-65" dirty="0">
                <a:latin typeface="Carlito"/>
                <a:cs typeface="Carlito"/>
              </a:rPr>
              <a:t> </a:t>
            </a:r>
            <a:r>
              <a:rPr sz="2600" spc="-10" dirty="0">
                <a:latin typeface="Carlito"/>
                <a:cs typeface="Carlito"/>
              </a:rPr>
              <a:t>divides </a:t>
            </a:r>
            <a:r>
              <a:rPr sz="2600" dirty="0">
                <a:latin typeface="Carlito"/>
                <a:cs typeface="Carlito"/>
              </a:rPr>
              <a:t>each</a:t>
            </a:r>
            <a:r>
              <a:rPr sz="2600" spc="-8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time</a:t>
            </a:r>
            <a:r>
              <a:rPr sz="2600" spc="-5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frame</a:t>
            </a:r>
            <a:r>
              <a:rPr sz="2600" spc="-6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into</a:t>
            </a:r>
            <a:r>
              <a:rPr sz="2600" spc="-40" dirty="0">
                <a:latin typeface="Carlito"/>
                <a:cs typeface="Carlito"/>
              </a:rPr>
              <a:t> </a:t>
            </a:r>
            <a:r>
              <a:rPr sz="2600" i="1" dirty="0">
                <a:latin typeface="Carlito"/>
                <a:cs typeface="Carlito"/>
              </a:rPr>
              <a:t>N</a:t>
            </a:r>
            <a:r>
              <a:rPr sz="2600" i="1" spc="-70" dirty="0">
                <a:latin typeface="Carlito"/>
                <a:cs typeface="Carlito"/>
              </a:rPr>
              <a:t> </a:t>
            </a:r>
            <a:r>
              <a:rPr sz="2600" b="1" dirty="0">
                <a:latin typeface="Carlito"/>
                <a:cs typeface="Carlito"/>
              </a:rPr>
              <a:t>time</a:t>
            </a:r>
            <a:r>
              <a:rPr sz="2600" b="1" spc="-30" dirty="0">
                <a:latin typeface="Carlito"/>
                <a:cs typeface="Carlito"/>
              </a:rPr>
              <a:t> </a:t>
            </a:r>
            <a:r>
              <a:rPr sz="2600" b="1" spc="-10" dirty="0">
                <a:latin typeface="Carlito"/>
                <a:cs typeface="Carlito"/>
              </a:rPr>
              <a:t>slots</a:t>
            </a:r>
            <a:r>
              <a:rPr sz="2600" spc="-10" dirty="0">
                <a:latin typeface="Carlito"/>
                <a:cs typeface="Carlito"/>
              </a:rPr>
              <a:t>.</a:t>
            </a:r>
            <a:endParaRPr sz="260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2574" y="464896"/>
            <a:ext cx="7978851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75615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Channel</a:t>
            </a:r>
            <a:r>
              <a:rPr sz="4000" spc="-200" dirty="0"/>
              <a:t> </a:t>
            </a:r>
            <a:r>
              <a:rPr sz="4000" dirty="0"/>
              <a:t>Partitioning</a:t>
            </a:r>
            <a:r>
              <a:rPr sz="4000" spc="-155" dirty="0"/>
              <a:t> </a:t>
            </a:r>
            <a:r>
              <a:rPr sz="4000" spc="-10" dirty="0"/>
              <a:t>Protocols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542364"/>
            <a:ext cx="7931784" cy="4287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56285" indent="-286385">
              <a:lnSpc>
                <a:spcPts val="2810"/>
              </a:lnSpc>
              <a:spcBef>
                <a:spcPts val="95"/>
              </a:spcBef>
              <a:buFont typeface="Arial"/>
              <a:buChar char="–"/>
              <a:tabLst>
                <a:tab pos="756285" algn="l"/>
              </a:tabLst>
            </a:pPr>
            <a:r>
              <a:rPr sz="2600" dirty="0">
                <a:latin typeface="Carlito"/>
                <a:cs typeface="Carlito"/>
              </a:rPr>
              <a:t>Each</a:t>
            </a:r>
            <a:r>
              <a:rPr sz="2600" spc="-3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time</a:t>
            </a:r>
            <a:r>
              <a:rPr sz="2600" spc="-3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slot</a:t>
            </a:r>
            <a:r>
              <a:rPr sz="2600" spc="-5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is</a:t>
            </a:r>
            <a:r>
              <a:rPr sz="2600" spc="-5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then</a:t>
            </a:r>
            <a:r>
              <a:rPr sz="2600" spc="-5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assigned</a:t>
            </a:r>
            <a:r>
              <a:rPr sz="2600" spc="-4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to</a:t>
            </a:r>
            <a:r>
              <a:rPr sz="2600" spc="-3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one</a:t>
            </a:r>
            <a:r>
              <a:rPr sz="2600" spc="-5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of</a:t>
            </a:r>
            <a:r>
              <a:rPr sz="2600" spc="-3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the</a:t>
            </a:r>
            <a:r>
              <a:rPr sz="2600" spc="-10" dirty="0">
                <a:latin typeface="Carlito"/>
                <a:cs typeface="Carlito"/>
              </a:rPr>
              <a:t> </a:t>
            </a:r>
            <a:r>
              <a:rPr sz="2600" i="1" dirty="0">
                <a:latin typeface="Carlito"/>
                <a:cs typeface="Carlito"/>
              </a:rPr>
              <a:t>N</a:t>
            </a:r>
            <a:r>
              <a:rPr sz="2600" i="1" spc="-50" dirty="0">
                <a:latin typeface="Carlito"/>
                <a:cs typeface="Carlito"/>
              </a:rPr>
              <a:t> </a:t>
            </a:r>
            <a:r>
              <a:rPr sz="2600" spc="-10" dirty="0">
                <a:latin typeface="Carlito"/>
                <a:cs typeface="Carlito"/>
              </a:rPr>
              <a:t>nodes.</a:t>
            </a:r>
            <a:endParaRPr sz="2600">
              <a:latin typeface="Carlito"/>
              <a:cs typeface="Carlito"/>
            </a:endParaRPr>
          </a:p>
          <a:p>
            <a:pPr marL="756285" marR="312420">
              <a:lnSpc>
                <a:spcPct val="80000"/>
              </a:lnSpc>
              <a:spcBef>
                <a:spcPts val="310"/>
              </a:spcBef>
            </a:pPr>
            <a:r>
              <a:rPr sz="2600" dirty="0">
                <a:latin typeface="Carlito"/>
                <a:cs typeface="Carlito"/>
              </a:rPr>
              <a:t>Whenever</a:t>
            </a:r>
            <a:r>
              <a:rPr sz="2600" spc="-5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a</a:t>
            </a:r>
            <a:r>
              <a:rPr sz="2600" spc="-5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node</a:t>
            </a:r>
            <a:r>
              <a:rPr sz="2600" spc="-5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has</a:t>
            </a:r>
            <a:r>
              <a:rPr sz="2600" spc="-3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a</a:t>
            </a:r>
            <a:r>
              <a:rPr sz="2600" spc="-5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packet</a:t>
            </a:r>
            <a:r>
              <a:rPr sz="2600" spc="-2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to</a:t>
            </a:r>
            <a:r>
              <a:rPr sz="2600" spc="-4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send,</a:t>
            </a:r>
            <a:r>
              <a:rPr sz="2600" spc="-6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it</a:t>
            </a:r>
            <a:r>
              <a:rPr sz="2600" spc="-45" dirty="0">
                <a:latin typeface="Carlito"/>
                <a:cs typeface="Carlito"/>
              </a:rPr>
              <a:t> </a:t>
            </a:r>
            <a:r>
              <a:rPr sz="2600" spc="-10" dirty="0">
                <a:latin typeface="Carlito"/>
                <a:cs typeface="Carlito"/>
              </a:rPr>
              <a:t>transmits </a:t>
            </a:r>
            <a:r>
              <a:rPr sz="2600" dirty="0">
                <a:latin typeface="Carlito"/>
                <a:cs typeface="Carlito"/>
              </a:rPr>
              <a:t>the</a:t>
            </a:r>
            <a:r>
              <a:rPr sz="2600" spc="-60" dirty="0">
                <a:latin typeface="Carlito"/>
                <a:cs typeface="Carlito"/>
              </a:rPr>
              <a:t> </a:t>
            </a:r>
            <a:r>
              <a:rPr sz="2600" spc="-20" dirty="0">
                <a:latin typeface="Carlito"/>
                <a:cs typeface="Carlito"/>
              </a:rPr>
              <a:t>packet’s</a:t>
            </a:r>
            <a:r>
              <a:rPr sz="2600" spc="-2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bits</a:t>
            </a:r>
            <a:r>
              <a:rPr sz="2600" spc="-5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during</a:t>
            </a:r>
            <a:r>
              <a:rPr sz="2600" spc="-4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it</a:t>
            </a:r>
            <a:r>
              <a:rPr sz="2600" spc="-5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assigned</a:t>
            </a:r>
            <a:r>
              <a:rPr sz="2600" spc="-4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time</a:t>
            </a:r>
            <a:r>
              <a:rPr sz="2600" spc="-3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slot</a:t>
            </a:r>
            <a:r>
              <a:rPr sz="2600" spc="-3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in</a:t>
            </a:r>
            <a:r>
              <a:rPr sz="2600" spc="-45" dirty="0">
                <a:latin typeface="Carlito"/>
                <a:cs typeface="Carlito"/>
              </a:rPr>
              <a:t> </a:t>
            </a:r>
            <a:r>
              <a:rPr sz="2600" spc="-25" dirty="0">
                <a:latin typeface="Carlito"/>
                <a:cs typeface="Carlito"/>
              </a:rPr>
              <a:t>the </a:t>
            </a:r>
            <a:r>
              <a:rPr sz="2600" dirty="0">
                <a:latin typeface="Carlito"/>
                <a:cs typeface="Carlito"/>
              </a:rPr>
              <a:t>revolving</a:t>
            </a:r>
            <a:r>
              <a:rPr sz="2600" spc="-9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TDM</a:t>
            </a:r>
            <a:r>
              <a:rPr sz="2600" spc="-70" dirty="0">
                <a:latin typeface="Carlito"/>
                <a:cs typeface="Carlito"/>
              </a:rPr>
              <a:t> </a:t>
            </a:r>
            <a:r>
              <a:rPr sz="2600" spc="-10" dirty="0">
                <a:latin typeface="Carlito"/>
                <a:cs typeface="Carlito"/>
              </a:rPr>
              <a:t>frame.</a:t>
            </a:r>
            <a:endParaRPr sz="2600">
              <a:latin typeface="Carlito"/>
              <a:cs typeface="Carlito"/>
            </a:endParaRPr>
          </a:p>
          <a:p>
            <a:pPr marL="756285" marR="133985" indent="-287020">
              <a:lnSpc>
                <a:spcPts val="2500"/>
              </a:lnSpc>
              <a:spcBef>
                <a:spcPts val="600"/>
              </a:spcBef>
              <a:buFont typeface="Arial"/>
              <a:buChar char="–"/>
              <a:tabLst>
                <a:tab pos="756285" algn="l"/>
              </a:tabLst>
            </a:pPr>
            <a:r>
              <a:rPr sz="2600" spc="-35" dirty="0">
                <a:latin typeface="Carlito"/>
                <a:cs typeface="Carlito"/>
              </a:rPr>
              <a:t>Typically,</a:t>
            </a:r>
            <a:r>
              <a:rPr sz="2600" spc="-6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slot</a:t>
            </a:r>
            <a:r>
              <a:rPr sz="2600" spc="-3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sizes</a:t>
            </a:r>
            <a:r>
              <a:rPr sz="2600" spc="-8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are</a:t>
            </a:r>
            <a:r>
              <a:rPr sz="2600" spc="-5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chosen</a:t>
            </a:r>
            <a:r>
              <a:rPr sz="2600" spc="-6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so</a:t>
            </a:r>
            <a:r>
              <a:rPr sz="2600" spc="-5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that</a:t>
            </a:r>
            <a:r>
              <a:rPr sz="2600" spc="-5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a</a:t>
            </a:r>
            <a:r>
              <a:rPr sz="2600" spc="-4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single</a:t>
            </a:r>
            <a:r>
              <a:rPr sz="2600" spc="-55" dirty="0">
                <a:latin typeface="Carlito"/>
                <a:cs typeface="Carlito"/>
              </a:rPr>
              <a:t> </a:t>
            </a:r>
            <a:r>
              <a:rPr sz="2600" spc="-10" dirty="0">
                <a:latin typeface="Carlito"/>
                <a:cs typeface="Carlito"/>
              </a:rPr>
              <a:t>packet </a:t>
            </a:r>
            <a:r>
              <a:rPr sz="2600" dirty="0">
                <a:latin typeface="Carlito"/>
                <a:cs typeface="Carlito"/>
              </a:rPr>
              <a:t>can</a:t>
            </a:r>
            <a:r>
              <a:rPr sz="2600" spc="-5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be</a:t>
            </a:r>
            <a:r>
              <a:rPr sz="2600" spc="-45" dirty="0">
                <a:latin typeface="Carlito"/>
                <a:cs typeface="Carlito"/>
              </a:rPr>
              <a:t> </a:t>
            </a:r>
            <a:r>
              <a:rPr sz="2600" spc="-10" dirty="0">
                <a:latin typeface="Carlito"/>
                <a:cs typeface="Carlito"/>
              </a:rPr>
              <a:t>transmitted</a:t>
            </a:r>
            <a:r>
              <a:rPr sz="2600" spc="-1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during</a:t>
            </a:r>
            <a:r>
              <a:rPr sz="2600" spc="-5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a</a:t>
            </a:r>
            <a:r>
              <a:rPr sz="2600" spc="-5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slot</a:t>
            </a:r>
            <a:r>
              <a:rPr sz="2600" spc="-20" dirty="0">
                <a:latin typeface="Carlito"/>
                <a:cs typeface="Carlito"/>
              </a:rPr>
              <a:t> </a:t>
            </a:r>
            <a:r>
              <a:rPr sz="2600" spc="-10" dirty="0">
                <a:latin typeface="Carlito"/>
                <a:cs typeface="Carlito"/>
              </a:rPr>
              <a:t>time.</a:t>
            </a:r>
            <a:endParaRPr sz="2600">
              <a:latin typeface="Carlito"/>
              <a:cs typeface="Carlito"/>
            </a:endParaRPr>
          </a:p>
          <a:p>
            <a:pPr marL="356870" indent="-34417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6870" algn="l"/>
              </a:tabLst>
            </a:pPr>
            <a:r>
              <a:rPr sz="3000" dirty="0">
                <a:latin typeface="Carlito"/>
                <a:cs typeface="Carlito"/>
              </a:rPr>
              <a:t>In</a:t>
            </a:r>
            <a:r>
              <a:rPr sz="3000" spc="-20" dirty="0">
                <a:latin typeface="Carlito"/>
                <a:cs typeface="Carlito"/>
              </a:rPr>
              <a:t> </a:t>
            </a:r>
            <a:r>
              <a:rPr sz="3000" b="1" spc="-20" dirty="0">
                <a:latin typeface="Carlito"/>
                <a:cs typeface="Carlito"/>
              </a:rPr>
              <a:t>FDM</a:t>
            </a:r>
            <a:r>
              <a:rPr sz="3000" spc="-20" dirty="0">
                <a:latin typeface="Carlito"/>
                <a:cs typeface="Carlito"/>
              </a:rPr>
              <a:t>:</a:t>
            </a:r>
            <a:endParaRPr sz="3000">
              <a:latin typeface="Carlito"/>
              <a:cs typeface="Carlito"/>
            </a:endParaRPr>
          </a:p>
          <a:p>
            <a:pPr marL="756285" marR="741045" lvl="1" indent="-287020">
              <a:lnSpc>
                <a:spcPct val="80000"/>
              </a:lnSpc>
              <a:spcBef>
                <a:spcPts val="640"/>
              </a:spcBef>
              <a:buFont typeface="Arial"/>
              <a:buChar char="–"/>
              <a:tabLst>
                <a:tab pos="756285" algn="l"/>
              </a:tabLst>
            </a:pPr>
            <a:r>
              <a:rPr sz="2600" dirty="0">
                <a:latin typeface="Carlito"/>
                <a:cs typeface="Carlito"/>
              </a:rPr>
              <a:t>FDM</a:t>
            </a:r>
            <a:r>
              <a:rPr sz="2600" spc="-2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divides</a:t>
            </a:r>
            <a:r>
              <a:rPr sz="2600" spc="-6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the</a:t>
            </a:r>
            <a:r>
              <a:rPr sz="2600" spc="-45" dirty="0">
                <a:latin typeface="Carlito"/>
                <a:cs typeface="Carlito"/>
              </a:rPr>
              <a:t> </a:t>
            </a:r>
            <a:r>
              <a:rPr sz="2600" i="1" dirty="0">
                <a:latin typeface="Carlito"/>
                <a:cs typeface="Carlito"/>
              </a:rPr>
              <a:t>R</a:t>
            </a:r>
            <a:r>
              <a:rPr sz="2600" i="1" spc="-5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bps</a:t>
            </a:r>
            <a:r>
              <a:rPr sz="2600" spc="-4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channel</a:t>
            </a:r>
            <a:r>
              <a:rPr sz="2600" spc="-7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into</a:t>
            </a:r>
            <a:r>
              <a:rPr sz="2600" spc="-20" dirty="0">
                <a:latin typeface="Carlito"/>
                <a:cs typeface="Carlito"/>
              </a:rPr>
              <a:t> </a:t>
            </a:r>
            <a:r>
              <a:rPr sz="2600" spc="-10" dirty="0">
                <a:latin typeface="Carlito"/>
                <a:cs typeface="Carlito"/>
              </a:rPr>
              <a:t>different </a:t>
            </a:r>
            <a:r>
              <a:rPr sz="2600" dirty="0">
                <a:latin typeface="Carlito"/>
                <a:cs typeface="Carlito"/>
              </a:rPr>
              <a:t>frequencies</a:t>
            </a:r>
            <a:r>
              <a:rPr sz="2600" spc="-10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(each</a:t>
            </a:r>
            <a:r>
              <a:rPr sz="2600" spc="-4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with</a:t>
            </a:r>
            <a:r>
              <a:rPr sz="2600" spc="-3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a</a:t>
            </a:r>
            <a:r>
              <a:rPr sz="2600" spc="-3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bandwidth</a:t>
            </a:r>
            <a:r>
              <a:rPr sz="2600" spc="-4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of</a:t>
            </a:r>
            <a:r>
              <a:rPr sz="2600" spc="-5" dirty="0">
                <a:latin typeface="Carlito"/>
                <a:cs typeface="Carlito"/>
              </a:rPr>
              <a:t> </a:t>
            </a:r>
            <a:r>
              <a:rPr sz="2600" i="1" dirty="0">
                <a:latin typeface="Carlito"/>
                <a:cs typeface="Carlito"/>
              </a:rPr>
              <a:t>R</a:t>
            </a:r>
            <a:r>
              <a:rPr sz="2600" dirty="0">
                <a:latin typeface="Carlito"/>
                <a:cs typeface="Carlito"/>
              </a:rPr>
              <a:t>/</a:t>
            </a:r>
            <a:r>
              <a:rPr sz="2600" i="1" dirty="0">
                <a:latin typeface="Carlito"/>
                <a:cs typeface="Carlito"/>
              </a:rPr>
              <a:t>N</a:t>
            </a:r>
            <a:r>
              <a:rPr sz="2600" dirty="0">
                <a:latin typeface="Carlito"/>
                <a:cs typeface="Carlito"/>
              </a:rPr>
              <a:t>)</a:t>
            </a:r>
            <a:r>
              <a:rPr sz="2600" spc="-75" dirty="0">
                <a:latin typeface="Carlito"/>
                <a:cs typeface="Carlito"/>
              </a:rPr>
              <a:t> </a:t>
            </a:r>
            <a:r>
              <a:rPr sz="2600" spc="-25" dirty="0">
                <a:latin typeface="Carlito"/>
                <a:cs typeface="Carlito"/>
              </a:rPr>
              <a:t>and </a:t>
            </a:r>
            <a:r>
              <a:rPr sz="2600" dirty="0">
                <a:latin typeface="Carlito"/>
                <a:cs typeface="Carlito"/>
              </a:rPr>
              <a:t>assigns</a:t>
            </a:r>
            <a:r>
              <a:rPr sz="2600" spc="-4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each</a:t>
            </a:r>
            <a:r>
              <a:rPr sz="2600" spc="-2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frequency</a:t>
            </a:r>
            <a:r>
              <a:rPr sz="2600" spc="-10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to</a:t>
            </a:r>
            <a:r>
              <a:rPr sz="2600" spc="-2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one</a:t>
            </a:r>
            <a:r>
              <a:rPr sz="2600" spc="-5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of</a:t>
            </a:r>
            <a:r>
              <a:rPr sz="2600" spc="-3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the</a:t>
            </a:r>
            <a:r>
              <a:rPr sz="2600" spc="-45" dirty="0">
                <a:latin typeface="Carlito"/>
                <a:cs typeface="Carlito"/>
              </a:rPr>
              <a:t> </a:t>
            </a:r>
            <a:r>
              <a:rPr sz="2600" i="1" dirty="0">
                <a:latin typeface="Carlito"/>
                <a:cs typeface="Carlito"/>
              </a:rPr>
              <a:t>N</a:t>
            </a:r>
            <a:r>
              <a:rPr sz="2600" i="1" spc="-25" dirty="0">
                <a:latin typeface="Carlito"/>
                <a:cs typeface="Carlito"/>
              </a:rPr>
              <a:t> </a:t>
            </a:r>
            <a:r>
              <a:rPr sz="2600" spc="-10" dirty="0">
                <a:latin typeface="Carlito"/>
                <a:cs typeface="Carlito"/>
              </a:rPr>
              <a:t>nodes.</a:t>
            </a:r>
            <a:endParaRPr sz="2600">
              <a:latin typeface="Carlito"/>
              <a:cs typeface="Carlito"/>
            </a:endParaRPr>
          </a:p>
          <a:p>
            <a:pPr marL="756285" marR="194310" lvl="1" indent="-287020">
              <a:lnSpc>
                <a:spcPts val="2500"/>
              </a:lnSpc>
              <a:spcBef>
                <a:spcPts val="600"/>
              </a:spcBef>
              <a:buFont typeface="Arial"/>
              <a:buChar char="–"/>
              <a:tabLst>
                <a:tab pos="756285" algn="l"/>
              </a:tabLst>
            </a:pPr>
            <a:r>
              <a:rPr sz="2600" dirty="0">
                <a:latin typeface="Carlito"/>
                <a:cs typeface="Carlito"/>
              </a:rPr>
              <a:t>FDM</a:t>
            </a:r>
            <a:r>
              <a:rPr sz="2600" spc="-2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thus</a:t>
            </a:r>
            <a:r>
              <a:rPr sz="2600" spc="-40" dirty="0">
                <a:latin typeface="Carlito"/>
                <a:cs typeface="Carlito"/>
              </a:rPr>
              <a:t> </a:t>
            </a:r>
            <a:r>
              <a:rPr sz="2600" spc="-10" dirty="0">
                <a:latin typeface="Carlito"/>
                <a:cs typeface="Carlito"/>
              </a:rPr>
              <a:t>creates</a:t>
            </a:r>
            <a:r>
              <a:rPr sz="2600" spc="-75" dirty="0">
                <a:latin typeface="Carlito"/>
                <a:cs typeface="Carlito"/>
              </a:rPr>
              <a:t> </a:t>
            </a:r>
            <a:r>
              <a:rPr sz="2600" i="1" dirty="0">
                <a:latin typeface="Carlito"/>
                <a:cs typeface="Carlito"/>
              </a:rPr>
              <a:t>N</a:t>
            </a:r>
            <a:r>
              <a:rPr sz="2600" i="1" spc="-3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smaller</a:t>
            </a:r>
            <a:r>
              <a:rPr sz="2600" spc="-5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channels</a:t>
            </a:r>
            <a:r>
              <a:rPr sz="2600" spc="-6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of</a:t>
            </a:r>
            <a:r>
              <a:rPr sz="2600" spc="-15" dirty="0">
                <a:latin typeface="Carlito"/>
                <a:cs typeface="Carlito"/>
              </a:rPr>
              <a:t> </a:t>
            </a:r>
            <a:r>
              <a:rPr sz="2600" i="1" dirty="0">
                <a:latin typeface="Carlito"/>
                <a:cs typeface="Carlito"/>
              </a:rPr>
              <a:t>R</a:t>
            </a:r>
            <a:r>
              <a:rPr sz="2600" dirty="0">
                <a:latin typeface="Carlito"/>
                <a:cs typeface="Carlito"/>
              </a:rPr>
              <a:t>/</a:t>
            </a:r>
            <a:r>
              <a:rPr sz="2600" i="1" dirty="0">
                <a:latin typeface="Carlito"/>
                <a:cs typeface="Carlito"/>
              </a:rPr>
              <a:t>N</a:t>
            </a:r>
            <a:r>
              <a:rPr sz="2600" i="1" spc="-7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bps</a:t>
            </a:r>
            <a:r>
              <a:rPr sz="2600" spc="-40" dirty="0">
                <a:latin typeface="Carlito"/>
                <a:cs typeface="Carlito"/>
              </a:rPr>
              <a:t> </a:t>
            </a:r>
            <a:r>
              <a:rPr sz="2600" spc="-25" dirty="0">
                <a:latin typeface="Carlito"/>
                <a:cs typeface="Carlito"/>
              </a:rPr>
              <a:t>out </a:t>
            </a:r>
            <a:r>
              <a:rPr sz="2600" dirty="0">
                <a:latin typeface="Carlito"/>
                <a:cs typeface="Carlito"/>
              </a:rPr>
              <a:t>of</a:t>
            </a:r>
            <a:r>
              <a:rPr sz="2600" spc="-3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the</a:t>
            </a:r>
            <a:r>
              <a:rPr sz="2600" spc="-5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single,</a:t>
            </a:r>
            <a:r>
              <a:rPr sz="2600" spc="-6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larger</a:t>
            </a:r>
            <a:r>
              <a:rPr sz="2600" spc="-30" dirty="0">
                <a:latin typeface="Carlito"/>
                <a:cs typeface="Carlito"/>
              </a:rPr>
              <a:t> </a:t>
            </a:r>
            <a:r>
              <a:rPr sz="2600" i="1" dirty="0">
                <a:latin typeface="Carlito"/>
                <a:cs typeface="Carlito"/>
              </a:rPr>
              <a:t>R</a:t>
            </a:r>
            <a:r>
              <a:rPr sz="2600" i="1" spc="-5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bps</a:t>
            </a:r>
            <a:r>
              <a:rPr sz="2600" spc="-45" dirty="0">
                <a:latin typeface="Carlito"/>
                <a:cs typeface="Carlito"/>
              </a:rPr>
              <a:t> </a:t>
            </a:r>
            <a:r>
              <a:rPr sz="2600" spc="-10" dirty="0">
                <a:latin typeface="Carlito"/>
                <a:cs typeface="Carlito"/>
              </a:rPr>
              <a:t>channel.</a:t>
            </a:r>
            <a:endParaRPr sz="260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2574" y="464896"/>
            <a:ext cx="7978851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75615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Channel</a:t>
            </a:r>
            <a:r>
              <a:rPr sz="4000" spc="-200" dirty="0"/>
              <a:t> </a:t>
            </a:r>
            <a:r>
              <a:rPr sz="4000" dirty="0"/>
              <a:t>Partitioning</a:t>
            </a:r>
            <a:r>
              <a:rPr sz="4000" spc="-155" dirty="0"/>
              <a:t> </a:t>
            </a:r>
            <a:r>
              <a:rPr sz="4000" spc="-10" dirty="0"/>
              <a:t>Protocols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0266" y="1520892"/>
            <a:ext cx="5908704" cy="4705408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2574" y="464896"/>
            <a:ext cx="7978851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75615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Channel</a:t>
            </a:r>
            <a:r>
              <a:rPr sz="4000" spc="-200" dirty="0"/>
              <a:t> </a:t>
            </a:r>
            <a:r>
              <a:rPr sz="4000" dirty="0"/>
              <a:t>Partitioning</a:t>
            </a:r>
            <a:r>
              <a:rPr sz="4000" spc="-155" dirty="0"/>
              <a:t> </a:t>
            </a:r>
            <a:r>
              <a:rPr sz="4000" spc="-10" dirty="0"/>
              <a:t>Protocols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510649"/>
            <a:ext cx="7964805" cy="436816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484"/>
              </a:spcBef>
              <a:buFont typeface="Arial"/>
              <a:buChar char="•"/>
              <a:tabLst>
                <a:tab pos="356870" algn="l"/>
              </a:tabLst>
            </a:pPr>
            <a:r>
              <a:rPr sz="3200" b="1" dirty="0">
                <a:latin typeface="Carlito"/>
                <a:cs typeface="Carlito"/>
              </a:rPr>
              <a:t>code</a:t>
            </a:r>
            <a:r>
              <a:rPr sz="3200" b="1" spc="-70" dirty="0">
                <a:latin typeface="Carlito"/>
                <a:cs typeface="Carlito"/>
              </a:rPr>
              <a:t> </a:t>
            </a:r>
            <a:r>
              <a:rPr sz="3200" b="1" dirty="0">
                <a:latin typeface="Carlito"/>
                <a:cs typeface="Carlito"/>
              </a:rPr>
              <a:t>division</a:t>
            </a:r>
            <a:r>
              <a:rPr sz="3200" b="1" spc="-90" dirty="0">
                <a:latin typeface="Carlito"/>
                <a:cs typeface="Carlito"/>
              </a:rPr>
              <a:t> </a:t>
            </a:r>
            <a:r>
              <a:rPr sz="3200" b="1" dirty="0">
                <a:latin typeface="Carlito"/>
                <a:cs typeface="Carlito"/>
              </a:rPr>
              <a:t>multiple</a:t>
            </a:r>
            <a:r>
              <a:rPr sz="3200" b="1" spc="-30" dirty="0">
                <a:latin typeface="Carlito"/>
                <a:cs typeface="Carlito"/>
              </a:rPr>
              <a:t> </a:t>
            </a:r>
            <a:r>
              <a:rPr sz="3200" b="1" dirty="0">
                <a:latin typeface="Carlito"/>
                <a:cs typeface="Carlito"/>
              </a:rPr>
              <a:t>access</a:t>
            </a:r>
            <a:r>
              <a:rPr sz="3200" b="1" spc="-85" dirty="0">
                <a:latin typeface="Carlito"/>
                <a:cs typeface="Carlito"/>
              </a:rPr>
              <a:t> </a:t>
            </a:r>
            <a:r>
              <a:rPr sz="3200" b="1" spc="-10" dirty="0">
                <a:latin typeface="Carlito"/>
                <a:cs typeface="Carlito"/>
              </a:rPr>
              <a:t>(CDMA):</a:t>
            </a:r>
            <a:endParaRPr sz="3200">
              <a:latin typeface="Carlito"/>
              <a:cs typeface="Carlito"/>
            </a:endParaRPr>
          </a:p>
          <a:p>
            <a:pPr marL="356870" marR="5080" indent="-344805">
              <a:lnSpc>
                <a:spcPts val="3460"/>
              </a:lnSpc>
              <a:spcBef>
                <a:spcPts val="819"/>
              </a:spcBef>
              <a:buFont typeface="Arial"/>
              <a:buChar char="•"/>
              <a:tabLst>
                <a:tab pos="356870" algn="l"/>
              </a:tabLst>
            </a:pPr>
            <a:r>
              <a:rPr sz="3200" dirty="0">
                <a:latin typeface="Carlito"/>
                <a:cs typeface="Carlito"/>
              </a:rPr>
              <a:t>While</a:t>
            </a:r>
            <a:r>
              <a:rPr sz="3200" spc="-4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TDM</a:t>
            </a:r>
            <a:r>
              <a:rPr sz="3200" spc="-4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and</a:t>
            </a:r>
            <a:r>
              <a:rPr sz="3200" spc="-5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FDM</a:t>
            </a:r>
            <a:r>
              <a:rPr sz="3200" spc="-4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assign</a:t>
            </a:r>
            <a:r>
              <a:rPr sz="3200" spc="-4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time</a:t>
            </a:r>
            <a:r>
              <a:rPr sz="3200" spc="-5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slots</a:t>
            </a:r>
            <a:r>
              <a:rPr sz="3200" spc="-65" dirty="0">
                <a:latin typeface="Carlito"/>
                <a:cs typeface="Carlito"/>
              </a:rPr>
              <a:t> </a:t>
            </a:r>
            <a:r>
              <a:rPr sz="3200" spc="-25" dirty="0">
                <a:latin typeface="Carlito"/>
                <a:cs typeface="Carlito"/>
              </a:rPr>
              <a:t>and </a:t>
            </a:r>
            <a:r>
              <a:rPr sz="3200" dirty="0">
                <a:latin typeface="Carlito"/>
                <a:cs typeface="Carlito"/>
              </a:rPr>
              <a:t>frequencies,</a:t>
            </a:r>
            <a:r>
              <a:rPr sz="3200" spc="-75" dirty="0">
                <a:latin typeface="Carlito"/>
                <a:cs typeface="Carlito"/>
              </a:rPr>
              <a:t> </a:t>
            </a:r>
            <a:r>
              <a:rPr sz="3200" spc="-25" dirty="0">
                <a:latin typeface="Carlito"/>
                <a:cs typeface="Carlito"/>
              </a:rPr>
              <a:t>respectively,</a:t>
            </a:r>
            <a:r>
              <a:rPr sz="3200" spc="-5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to</a:t>
            </a:r>
            <a:r>
              <a:rPr sz="3200" spc="-9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the</a:t>
            </a:r>
            <a:r>
              <a:rPr sz="3200" spc="-10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nodes,</a:t>
            </a:r>
            <a:r>
              <a:rPr sz="3200" spc="-80" dirty="0">
                <a:latin typeface="Carlito"/>
                <a:cs typeface="Carlito"/>
              </a:rPr>
              <a:t> </a:t>
            </a:r>
            <a:r>
              <a:rPr sz="3200" spc="-20" dirty="0">
                <a:latin typeface="Carlito"/>
                <a:cs typeface="Carlito"/>
              </a:rPr>
              <a:t>CDMA </a:t>
            </a:r>
            <a:r>
              <a:rPr sz="3200" dirty="0">
                <a:latin typeface="Carlito"/>
                <a:cs typeface="Carlito"/>
              </a:rPr>
              <a:t>assigns</a:t>
            </a:r>
            <a:r>
              <a:rPr sz="3200" spc="-7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a</a:t>
            </a:r>
            <a:r>
              <a:rPr sz="3200" spc="-8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different</a:t>
            </a:r>
            <a:r>
              <a:rPr sz="3200" spc="-55" dirty="0">
                <a:latin typeface="Carlito"/>
                <a:cs typeface="Carlito"/>
              </a:rPr>
              <a:t> </a:t>
            </a:r>
            <a:r>
              <a:rPr sz="3200" i="1" dirty="0">
                <a:latin typeface="Carlito"/>
                <a:cs typeface="Carlito"/>
              </a:rPr>
              <a:t>code</a:t>
            </a:r>
            <a:r>
              <a:rPr sz="3200" i="1" spc="-5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to</a:t>
            </a:r>
            <a:r>
              <a:rPr sz="3200" spc="-8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each</a:t>
            </a:r>
            <a:r>
              <a:rPr sz="3200" spc="-6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node.</a:t>
            </a:r>
            <a:endParaRPr sz="3200">
              <a:latin typeface="Carlito"/>
              <a:cs typeface="Carlito"/>
            </a:endParaRPr>
          </a:p>
          <a:p>
            <a:pPr marL="356870" marR="1146810" indent="-344805">
              <a:lnSpc>
                <a:spcPts val="3460"/>
              </a:lnSpc>
              <a:spcBef>
                <a:spcPts val="760"/>
              </a:spcBef>
              <a:buFont typeface="Arial"/>
              <a:buChar char="•"/>
              <a:tabLst>
                <a:tab pos="356870" algn="l"/>
              </a:tabLst>
            </a:pPr>
            <a:r>
              <a:rPr sz="3200" dirty="0">
                <a:latin typeface="Carlito"/>
                <a:cs typeface="Carlito"/>
              </a:rPr>
              <a:t>Each</a:t>
            </a:r>
            <a:r>
              <a:rPr sz="3200" spc="-5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node</a:t>
            </a:r>
            <a:r>
              <a:rPr sz="3200" spc="-6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then</a:t>
            </a:r>
            <a:r>
              <a:rPr sz="3200" spc="-5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uses</a:t>
            </a:r>
            <a:r>
              <a:rPr sz="3200" spc="-6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its</a:t>
            </a:r>
            <a:r>
              <a:rPr sz="3200" spc="-8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unique</a:t>
            </a:r>
            <a:r>
              <a:rPr sz="3200" spc="-3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code</a:t>
            </a:r>
            <a:r>
              <a:rPr sz="3200" spc="-65" dirty="0">
                <a:latin typeface="Carlito"/>
                <a:cs typeface="Carlito"/>
              </a:rPr>
              <a:t> </a:t>
            </a:r>
            <a:r>
              <a:rPr sz="3200" spc="-35" dirty="0">
                <a:latin typeface="Carlito"/>
                <a:cs typeface="Carlito"/>
              </a:rPr>
              <a:t>to </a:t>
            </a:r>
            <a:r>
              <a:rPr sz="3200" dirty="0">
                <a:latin typeface="Carlito"/>
                <a:cs typeface="Carlito"/>
              </a:rPr>
              <a:t>encode</a:t>
            </a:r>
            <a:r>
              <a:rPr sz="3200" spc="-4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the</a:t>
            </a:r>
            <a:r>
              <a:rPr sz="3200" spc="-7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data</a:t>
            </a:r>
            <a:r>
              <a:rPr sz="3200" spc="-5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bits</a:t>
            </a:r>
            <a:r>
              <a:rPr sz="3200" spc="-7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it</a:t>
            </a:r>
            <a:r>
              <a:rPr sz="3200" spc="-80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sends.</a:t>
            </a:r>
            <a:endParaRPr sz="3200">
              <a:latin typeface="Carlito"/>
              <a:cs typeface="Carlito"/>
            </a:endParaRPr>
          </a:p>
          <a:p>
            <a:pPr marL="356870" marR="80010" indent="-344805">
              <a:lnSpc>
                <a:spcPts val="3460"/>
              </a:lnSpc>
              <a:spcBef>
                <a:spcPts val="765"/>
              </a:spcBef>
              <a:buFont typeface="Arial"/>
              <a:buChar char="•"/>
              <a:tabLst>
                <a:tab pos="356870" algn="l"/>
              </a:tabLst>
            </a:pPr>
            <a:r>
              <a:rPr sz="3200" dirty="0">
                <a:latin typeface="Carlito"/>
                <a:cs typeface="Carlito"/>
              </a:rPr>
              <a:t>CDMA</a:t>
            </a:r>
            <a:r>
              <a:rPr sz="3200" spc="-9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networks</a:t>
            </a:r>
            <a:r>
              <a:rPr sz="3200" spc="-8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have</a:t>
            </a:r>
            <a:r>
              <a:rPr sz="3200" spc="-11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the</a:t>
            </a:r>
            <a:r>
              <a:rPr sz="3200" spc="-9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wonderful</a:t>
            </a:r>
            <a:r>
              <a:rPr sz="3200" spc="-8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property </a:t>
            </a:r>
            <a:r>
              <a:rPr sz="3200" dirty="0">
                <a:latin typeface="Carlito"/>
                <a:cs typeface="Carlito"/>
              </a:rPr>
              <a:t>that</a:t>
            </a:r>
            <a:r>
              <a:rPr sz="3200" spc="-80" dirty="0">
                <a:latin typeface="Carlito"/>
                <a:cs typeface="Carlito"/>
              </a:rPr>
              <a:t> </a:t>
            </a:r>
            <a:r>
              <a:rPr sz="3200" spc="-20" dirty="0">
                <a:latin typeface="Carlito"/>
                <a:cs typeface="Carlito"/>
              </a:rPr>
              <a:t>different</a:t>
            </a:r>
            <a:r>
              <a:rPr sz="3200" spc="-7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nodes</a:t>
            </a:r>
            <a:r>
              <a:rPr sz="3200" spc="-7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can</a:t>
            </a:r>
            <a:r>
              <a:rPr sz="3200" spc="-30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transmit </a:t>
            </a:r>
            <a:r>
              <a:rPr sz="3200" i="1" spc="-10" dirty="0">
                <a:latin typeface="Carlito"/>
                <a:cs typeface="Carlito"/>
              </a:rPr>
              <a:t>simultaneously.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2574" y="464896"/>
            <a:ext cx="7978851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7315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Random</a:t>
            </a:r>
            <a:r>
              <a:rPr sz="4000" spc="-60" dirty="0"/>
              <a:t> </a:t>
            </a:r>
            <a:r>
              <a:rPr sz="4000" dirty="0"/>
              <a:t>access</a:t>
            </a:r>
            <a:r>
              <a:rPr sz="4000" spc="-105" dirty="0"/>
              <a:t> </a:t>
            </a:r>
            <a:r>
              <a:rPr sz="4000" spc="-10" dirty="0"/>
              <a:t>protocols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569796"/>
            <a:ext cx="8053705" cy="401891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56870" marR="5080" indent="-344805">
              <a:lnSpc>
                <a:spcPct val="90000"/>
              </a:lnSpc>
              <a:spcBef>
                <a:spcPts val="434"/>
              </a:spcBef>
              <a:buFont typeface="Arial"/>
              <a:buChar char="•"/>
              <a:tabLst>
                <a:tab pos="356870" algn="l"/>
              </a:tabLst>
            </a:pPr>
            <a:r>
              <a:rPr sz="2700" dirty="0">
                <a:latin typeface="Carlito"/>
                <a:cs typeface="Carlito"/>
              </a:rPr>
              <a:t>In</a:t>
            </a:r>
            <a:r>
              <a:rPr sz="2700" spc="-25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a</a:t>
            </a:r>
            <a:r>
              <a:rPr sz="2700" spc="-40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random</a:t>
            </a:r>
            <a:r>
              <a:rPr sz="2700" spc="-65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access</a:t>
            </a:r>
            <a:r>
              <a:rPr sz="2700" spc="-90" dirty="0">
                <a:latin typeface="Carlito"/>
                <a:cs typeface="Carlito"/>
              </a:rPr>
              <a:t> </a:t>
            </a:r>
            <a:r>
              <a:rPr sz="2700" spc="-10" dirty="0">
                <a:latin typeface="Carlito"/>
                <a:cs typeface="Carlito"/>
              </a:rPr>
              <a:t>protocol,</a:t>
            </a:r>
            <a:r>
              <a:rPr sz="2700" spc="-85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a</a:t>
            </a:r>
            <a:r>
              <a:rPr sz="2700" spc="-40" dirty="0">
                <a:latin typeface="Carlito"/>
                <a:cs typeface="Carlito"/>
              </a:rPr>
              <a:t> </a:t>
            </a:r>
            <a:r>
              <a:rPr sz="2700" spc="-10" dirty="0">
                <a:latin typeface="Carlito"/>
                <a:cs typeface="Carlito"/>
              </a:rPr>
              <a:t>transmitting</a:t>
            </a:r>
            <a:r>
              <a:rPr sz="2700" spc="-70" dirty="0">
                <a:latin typeface="Carlito"/>
                <a:cs typeface="Carlito"/>
              </a:rPr>
              <a:t> </a:t>
            </a:r>
            <a:r>
              <a:rPr sz="2700" spc="-20" dirty="0">
                <a:latin typeface="Carlito"/>
                <a:cs typeface="Carlito"/>
              </a:rPr>
              <a:t>node </a:t>
            </a:r>
            <a:r>
              <a:rPr sz="2700" spc="-10" dirty="0">
                <a:latin typeface="Carlito"/>
                <a:cs typeface="Carlito"/>
              </a:rPr>
              <a:t>always</a:t>
            </a:r>
            <a:r>
              <a:rPr sz="2700" spc="-100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transmits</a:t>
            </a:r>
            <a:r>
              <a:rPr sz="2700" spc="-75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at</a:t>
            </a:r>
            <a:r>
              <a:rPr sz="2700" spc="-45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the</a:t>
            </a:r>
            <a:r>
              <a:rPr sz="2700" spc="-85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full</a:t>
            </a:r>
            <a:r>
              <a:rPr sz="2700" spc="-25" dirty="0">
                <a:latin typeface="Carlito"/>
                <a:cs typeface="Carlito"/>
              </a:rPr>
              <a:t> </a:t>
            </a:r>
            <a:r>
              <a:rPr sz="2700" spc="-10" dirty="0">
                <a:latin typeface="Carlito"/>
                <a:cs typeface="Carlito"/>
              </a:rPr>
              <a:t>rate</a:t>
            </a:r>
            <a:r>
              <a:rPr sz="2700" spc="-75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of</a:t>
            </a:r>
            <a:r>
              <a:rPr sz="2700" spc="-55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the</a:t>
            </a:r>
            <a:r>
              <a:rPr sz="2700" spc="-60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channel,</a:t>
            </a:r>
            <a:r>
              <a:rPr sz="2700" spc="-75" dirty="0">
                <a:latin typeface="Carlito"/>
                <a:cs typeface="Carlito"/>
              </a:rPr>
              <a:t> </a:t>
            </a:r>
            <a:r>
              <a:rPr sz="2700" spc="-10" dirty="0">
                <a:latin typeface="Carlito"/>
                <a:cs typeface="Carlito"/>
              </a:rPr>
              <a:t>namely, </a:t>
            </a:r>
            <a:r>
              <a:rPr sz="2700" i="1" dirty="0">
                <a:latin typeface="Carlito"/>
                <a:cs typeface="Carlito"/>
              </a:rPr>
              <a:t>R</a:t>
            </a:r>
            <a:r>
              <a:rPr sz="2700" i="1" spc="-35" dirty="0">
                <a:latin typeface="Carlito"/>
                <a:cs typeface="Carlito"/>
              </a:rPr>
              <a:t> </a:t>
            </a:r>
            <a:r>
              <a:rPr sz="2700" spc="-20" dirty="0">
                <a:latin typeface="Carlito"/>
                <a:cs typeface="Carlito"/>
              </a:rPr>
              <a:t>bps.</a:t>
            </a:r>
            <a:endParaRPr sz="2700">
              <a:latin typeface="Carlito"/>
              <a:cs typeface="Carlito"/>
            </a:endParaRPr>
          </a:p>
          <a:p>
            <a:pPr marL="356870" marR="102870" indent="-344805">
              <a:lnSpc>
                <a:spcPct val="90100"/>
              </a:lnSpc>
              <a:spcBef>
                <a:spcPts val="635"/>
              </a:spcBef>
              <a:buFont typeface="Arial"/>
              <a:buChar char="•"/>
              <a:tabLst>
                <a:tab pos="356870" algn="l"/>
              </a:tabLst>
            </a:pPr>
            <a:r>
              <a:rPr sz="2700" dirty="0">
                <a:latin typeface="Carlito"/>
                <a:cs typeface="Carlito"/>
              </a:rPr>
              <a:t>When</a:t>
            </a:r>
            <a:r>
              <a:rPr sz="2700" spc="-65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there</a:t>
            </a:r>
            <a:r>
              <a:rPr sz="2700" spc="-60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is</a:t>
            </a:r>
            <a:r>
              <a:rPr sz="2700" spc="-35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a</a:t>
            </a:r>
            <a:r>
              <a:rPr sz="2700" spc="-35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collision,</a:t>
            </a:r>
            <a:r>
              <a:rPr sz="2700" spc="-55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each</a:t>
            </a:r>
            <a:r>
              <a:rPr sz="2700" spc="-60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node</a:t>
            </a:r>
            <a:r>
              <a:rPr sz="2700" spc="-70" dirty="0">
                <a:latin typeface="Carlito"/>
                <a:cs typeface="Carlito"/>
              </a:rPr>
              <a:t> </a:t>
            </a:r>
            <a:r>
              <a:rPr sz="2700" spc="-10" dirty="0">
                <a:latin typeface="Carlito"/>
                <a:cs typeface="Carlito"/>
              </a:rPr>
              <a:t>involved</a:t>
            </a:r>
            <a:r>
              <a:rPr sz="2700" spc="-35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in</a:t>
            </a:r>
            <a:r>
              <a:rPr sz="2700" spc="-45" dirty="0">
                <a:latin typeface="Carlito"/>
                <a:cs typeface="Carlito"/>
              </a:rPr>
              <a:t> </a:t>
            </a:r>
            <a:r>
              <a:rPr sz="2700" spc="-25" dirty="0">
                <a:latin typeface="Carlito"/>
                <a:cs typeface="Carlito"/>
              </a:rPr>
              <a:t>the </a:t>
            </a:r>
            <a:r>
              <a:rPr sz="2700" dirty="0">
                <a:latin typeface="Carlito"/>
                <a:cs typeface="Carlito"/>
              </a:rPr>
              <a:t>collision</a:t>
            </a:r>
            <a:r>
              <a:rPr sz="2700" spc="-75" dirty="0">
                <a:latin typeface="Carlito"/>
                <a:cs typeface="Carlito"/>
              </a:rPr>
              <a:t> </a:t>
            </a:r>
            <a:r>
              <a:rPr sz="2700" spc="-20" dirty="0">
                <a:latin typeface="Carlito"/>
                <a:cs typeface="Carlito"/>
              </a:rPr>
              <a:t>repeatedly</a:t>
            </a:r>
            <a:r>
              <a:rPr sz="2700" spc="-125" dirty="0">
                <a:latin typeface="Carlito"/>
                <a:cs typeface="Carlito"/>
              </a:rPr>
              <a:t> </a:t>
            </a:r>
            <a:r>
              <a:rPr sz="2700" spc="-10" dirty="0">
                <a:latin typeface="Carlito"/>
                <a:cs typeface="Carlito"/>
              </a:rPr>
              <a:t>retransmits</a:t>
            </a:r>
            <a:r>
              <a:rPr sz="2700" spc="-70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its</a:t>
            </a:r>
            <a:r>
              <a:rPr sz="2700" spc="-75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frame</a:t>
            </a:r>
            <a:r>
              <a:rPr sz="2700" spc="-30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(that</a:t>
            </a:r>
            <a:r>
              <a:rPr sz="2700" spc="-85" dirty="0">
                <a:latin typeface="Carlito"/>
                <a:cs typeface="Carlito"/>
              </a:rPr>
              <a:t> </a:t>
            </a:r>
            <a:r>
              <a:rPr sz="2700" spc="-25" dirty="0">
                <a:latin typeface="Carlito"/>
                <a:cs typeface="Carlito"/>
              </a:rPr>
              <a:t>is, </a:t>
            </a:r>
            <a:r>
              <a:rPr sz="2700" spc="-10" dirty="0">
                <a:latin typeface="Carlito"/>
                <a:cs typeface="Carlito"/>
              </a:rPr>
              <a:t>packet)</a:t>
            </a:r>
            <a:r>
              <a:rPr sz="2700" spc="-85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until</a:t>
            </a:r>
            <a:r>
              <a:rPr sz="2700" spc="-55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its</a:t>
            </a:r>
            <a:r>
              <a:rPr sz="2700" spc="-60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frame</a:t>
            </a:r>
            <a:r>
              <a:rPr sz="2700" spc="-55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gets</a:t>
            </a:r>
            <a:r>
              <a:rPr sz="2700" spc="-60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through</a:t>
            </a:r>
            <a:r>
              <a:rPr sz="2700" spc="-95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without</a:t>
            </a:r>
            <a:r>
              <a:rPr sz="2700" spc="-100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a</a:t>
            </a:r>
            <a:r>
              <a:rPr sz="2700" spc="-65" dirty="0">
                <a:latin typeface="Carlito"/>
                <a:cs typeface="Carlito"/>
              </a:rPr>
              <a:t> </a:t>
            </a:r>
            <a:r>
              <a:rPr sz="2700" spc="-10" dirty="0">
                <a:latin typeface="Carlito"/>
                <a:cs typeface="Carlito"/>
              </a:rPr>
              <a:t>collision.</a:t>
            </a:r>
            <a:endParaRPr sz="2700">
              <a:latin typeface="Carlito"/>
              <a:cs typeface="Carlito"/>
            </a:endParaRPr>
          </a:p>
          <a:p>
            <a:pPr marL="356870" marR="655320" indent="-344805">
              <a:lnSpc>
                <a:spcPts val="2910"/>
              </a:lnSpc>
              <a:spcBef>
                <a:spcPts val="710"/>
              </a:spcBef>
              <a:buFont typeface="Arial"/>
              <a:buChar char="•"/>
              <a:tabLst>
                <a:tab pos="356870" algn="l"/>
              </a:tabLst>
            </a:pPr>
            <a:r>
              <a:rPr sz="2700" dirty="0">
                <a:latin typeface="Carlito"/>
                <a:cs typeface="Carlito"/>
              </a:rPr>
              <a:t>But</a:t>
            </a:r>
            <a:r>
              <a:rPr sz="2700" spc="-25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when</a:t>
            </a:r>
            <a:r>
              <a:rPr sz="2700" spc="-50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a</a:t>
            </a:r>
            <a:r>
              <a:rPr sz="2700" spc="-20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node</a:t>
            </a:r>
            <a:r>
              <a:rPr sz="2700" spc="-55" dirty="0">
                <a:latin typeface="Carlito"/>
                <a:cs typeface="Carlito"/>
              </a:rPr>
              <a:t> </a:t>
            </a:r>
            <a:r>
              <a:rPr sz="2700" spc="-10" dirty="0">
                <a:latin typeface="Carlito"/>
                <a:cs typeface="Carlito"/>
              </a:rPr>
              <a:t>experiences</a:t>
            </a:r>
            <a:r>
              <a:rPr sz="2700" spc="-50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a</a:t>
            </a:r>
            <a:r>
              <a:rPr sz="2700" spc="-20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collision,</a:t>
            </a:r>
            <a:r>
              <a:rPr sz="2700" spc="-45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it</a:t>
            </a:r>
            <a:r>
              <a:rPr sz="2700" spc="-10" dirty="0">
                <a:latin typeface="Carlito"/>
                <a:cs typeface="Carlito"/>
              </a:rPr>
              <a:t> doesn’t </a:t>
            </a:r>
            <a:r>
              <a:rPr sz="2700" dirty="0">
                <a:latin typeface="Carlito"/>
                <a:cs typeface="Carlito"/>
              </a:rPr>
              <a:t>necessarily</a:t>
            </a:r>
            <a:r>
              <a:rPr sz="2700" spc="-95" dirty="0">
                <a:latin typeface="Carlito"/>
                <a:cs typeface="Carlito"/>
              </a:rPr>
              <a:t> </a:t>
            </a:r>
            <a:r>
              <a:rPr sz="2700" spc="-10" dirty="0">
                <a:latin typeface="Carlito"/>
                <a:cs typeface="Carlito"/>
              </a:rPr>
              <a:t>retransmit</a:t>
            </a:r>
            <a:r>
              <a:rPr sz="2700" spc="-114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the</a:t>
            </a:r>
            <a:r>
              <a:rPr sz="2700" spc="-80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frame</a:t>
            </a:r>
            <a:r>
              <a:rPr sz="2700" spc="-75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right</a:t>
            </a:r>
            <a:r>
              <a:rPr sz="2700" spc="-65" dirty="0">
                <a:latin typeface="Carlito"/>
                <a:cs typeface="Carlito"/>
              </a:rPr>
              <a:t> </a:t>
            </a:r>
            <a:r>
              <a:rPr sz="2700" spc="-10" dirty="0">
                <a:latin typeface="Carlito"/>
                <a:cs typeface="Carlito"/>
              </a:rPr>
              <a:t>away.</a:t>
            </a:r>
            <a:endParaRPr sz="2700">
              <a:latin typeface="Carlito"/>
              <a:cs typeface="Carlito"/>
            </a:endParaRPr>
          </a:p>
          <a:p>
            <a:pPr marL="356870" marR="252729" indent="-344805">
              <a:lnSpc>
                <a:spcPts val="2910"/>
              </a:lnSpc>
              <a:spcBef>
                <a:spcPts val="660"/>
              </a:spcBef>
              <a:buFont typeface="Arial"/>
              <a:buChar char="•"/>
              <a:tabLst>
                <a:tab pos="356870" algn="l"/>
              </a:tabLst>
            </a:pPr>
            <a:r>
              <a:rPr sz="2700" i="1" dirty="0">
                <a:latin typeface="Carlito"/>
                <a:cs typeface="Carlito"/>
              </a:rPr>
              <a:t>Instead</a:t>
            </a:r>
            <a:r>
              <a:rPr sz="2700" i="1" spc="-60" dirty="0">
                <a:latin typeface="Carlito"/>
                <a:cs typeface="Carlito"/>
              </a:rPr>
              <a:t> </a:t>
            </a:r>
            <a:r>
              <a:rPr sz="2700" i="1" dirty="0">
                <a:latin typeface="Carlito"/>
                <a:cs typeface="Carlito"/>
              </a:rPr>
              <a:t>it</a:t>
            </a:r>
            <a:r>
              <a:rPr sz="2700" i="1" spc="-35" dirty="0">
                <a:latin typeface="Carlito"/>
                <a:cs typeface="Carlito"/>
              </a:rPr>
              <a:t> </a:t>
            </a:r>
            <a:r>
              <a:rPr sz="2700" i="1" dirty="0">
                <a:latin typeface="Carlito"/>
                <a:cs typeface="Carlito"/>
              </a:rPr>
              <a:t>waits</a:t>
            </a:r>
            <a:r>
              <a:rPr sz="2700" i="1" spc="-75" dirty="0">
                <a:latin typeface="Carlito"/>
                <a:cs typeface="Carlito"/>
              </a:rPr>
              <a:t> </a:t>
            </a:r>
            <a:r>
              <a:rPr sz="2700" i="1" dirty="0">
                <a:latin typeface="Carlito"/>
                <a:cs typeface="Carlito"/>
              </a:rPr>
              <a:t>a</a:t>
            </a:r>
            <a:r>
              <a:rPr sz="2700" i="1" spc="-20" dirty="0">
                <a:latin typeface="Carlito"/>
                <a:cs typeface="Carlito"/>
              </a:rPr>
              <a:t> </a:t>
            </a:r>
            <a:r>
              <a:rPr sz="2700" i="1" dirty="0">
                <a:latin typeface="Carlito"/>
                <a:cs typeface="Carlito"/>
              </a:rPr>
              <a:t>random</a:t>
            </a:r>
            <a:r>
              <a:rPr sz="2700" i="1" spc="-55" dirty="0">
                <a:latin typeface="Carlito"/>
                <a:cs typeface="Carlito"/>
              </a:rPr>
              <a:t> </a:t>
            </a:r>
            <a:r>
              <a:rPr sz="2700" i="1" dirty="0">
                <a:latin typeface="Carlito"/>
                <a:cs typeface="Carlito"/>
              </a:rPr>
              <a:t>delay</a:t>
            </a:r>
            <a:r>
              <a:rPr sz="2700" i="1" spc="-50" dirty="0">
                <a:latin typeface="Carlito"/>
                <a:cs typeface="Carlito"/>
              </a:rPr>
              <a:t> </a:t>
            </a:r>
            <a:r>
              <a:rPr sz="2700" i="1" dirty="0">
                <a:latin typeface="Carlito"/>
                <a:cs typeface="Carlito"/>
              </a:rPr>
              <a:t>before</a:t>
            </a:r>
            <a:r>
              <a:rPr sz="2700" i="1" spc="-45" dirty="0">
                <a:latin typeface="Carlito"/>
                <a:cs typeface="Carlito"/>
              </a:rPr>
              <a:t> </a:t>
            </a:r>
            <a:r>
              <a:rPr sz="2700" i="1" spc="-10" dirty="0">
                <a:latin typeface="Carlito"/>
                <a:cs typeface="Carlito"/>
              </a:rPr>
              <a:t>retransmitting </a:t>
            </a:r>
            <a:r>
              <a:rPr sz="2700" i="1" dirty="0">
                <a:latin typeface="Carlito"/>
                <a:cs typeface="Carlito"/>
              </a:rPr>
              <a:t>the</a:t>
            </a:r>
            <a:r>
              <a:rPr sz="2700" i="1" spc="-35" dirty="0">
                <a:latin typeface="Carlito"/>
                <a:cs typeface="Carlito"/>
              </a:rPr>
              <a:t> </a:t>
            </a:r>
            <a:r>
              <a:rPr sz="2700" i="1" spc="-10" dirty="0">
                <a:latin typeface="Carlito"/>
                <a:cs typeface="Carlito"/>
              </a:rPr>
              <a:t>frame</a:t>
            </a:r>
            <a:r>
              <a:rPr sz="2700" spc="-10" dirty="0">
                <a:latin typeface="Carlito"/>
                <a:cs typeface="Carlito"/>
              </a:rPr>
              <a:t>.</a:t>
            </a:r>
            <a:endParaRPr sz="270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2574" y="464896"/>
            <a:ext cx="7978851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7315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Random</a:t>
            </a:r>
            <a:r>
              <a:rPr sz="4000" spc="-60" dirty="0"/>
              <a:t> </a:t>
            </a:r>
            <a:r>
              <a:rPr sz="4000" dirty="0"/>
              <a:t>access</a:t>
            </a:r>
            <a:r>
              <a:rPr sz="4000" spc="-105" dirty="0"/>
              <a:t> </a:t>
            </a:r>
            <a:r>
              <a:rPr sz="4000" spc="-10" dirty="0"/>
              <a:t>protocols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9570" indent="-34417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69570" algn="l"/>
              </a:tabLst>
            </a:pPr>
            <a:r>
              <a:rPr sz="3000" dirty="0"/>
              <a:t>The</a:t>
            </a:r>
            <a:r>
              <a:rPr sz="3000" spc="-70" dirty="0"/>
              <a:t> </a:t>
            </a:r>
            <a:r>
              <a:rPr sz="3000" spc="-10" dirty="0"/>
              <a:t>ALOHA</a:t>
            </a:r>
            <a:r>
              <a:rPr sz="3000" spc="-75" dirty="0"/>
              <a:t> </a:t>
            </a:r>
            <a:r>
              <a:rPr sz="3000" spc="-10" dirty="0"/>
              <a:t>protocols:</a:t>
            </a:r>
            <a:endParaRPr sz="3000"/>
          </a:p>
          <a:p>
            <a:pPr marL="768985" lvl="1" indent="-286385">
              <a:lnSpc>
                <a:spcPct val="100000"/>
              </a:lnSpc>
              <a:spcBef>
                <a:spcPts val="15"/>
              </a:spcBef>
              <a:buFont typeface="Arial"/>
              <a:buChar char="–"/>
              <a:tabLst>
                <a:tab pos="768985" algn="l"/>
              </a:tabLst>
            </a:pPr>
            <a:r>
              <a:rPr sz="2600" b="1" spc="-10" dirty="0">
                <a:latin typeface="Carlito"/>
                <a:cs typeface="Carlito"/>
              </a:rPr>
              <a:t>ALOHA</a:t>
            </a:r>
            <a:endParaRPr sz="2600">
              <a:latin typeface="Carlito"/>
              <a:cs typeface="Carlito"/>
            </a:endParaRPr>
          </a:p>
          <a:p>
            <a:pPr marL="768985" lvl="1" indent="-286385">
              <a:lnSpc>
                <a:spcPts val="3115"/>
              </a:lnSpc>
              <a:spcBef>
                <a:spcPts val="5"/>
              </a:spcBef>
              <a:buFont typeface="Arial"/>
              <a:buChar char="–"/>
              <a:tabLst>
                <a:tab pos="768985" algn="l"/>
              </a:tabLst>
            </a:pPr>
            <a:r>
              <a:rPr sz="2600" b="1" dirty="0">
                <a:latin typeface="Carlito"/>
                <a:cs typeface="Carlito"/>
              </a:rPr>
              <a:t>Slotted</a:t>
            </a:r>
            <a:r>
              <a:rPr sz="2600" b="1" spc="-135" dirty="0">
                <a:latin typeface="Carlito"/>
                <a:cs typeface="Carlito"/>
              </a:rPr>
              <a:t> </a:t>
            </a:r>
            <a:r>
              <a:rPr sz="2600" b="1" spc="-10" dirty="0">
                <a:latin typeface="Carlito"/>
                <a:cs typeface="Carlito"/>
              </a:rPr>
              <a:t>ALOHA</a:t>
            </a:r>
            <a:endParaRPr sz="2600">
              <a:latin typeface="Carlito"/>
              <a:cs typeface="Carlito"/>
            </a:endParaRPr>
          </a:p>
          <a:p>
            <a:pPr marL="369570" marR="1301750" indent="-344805">
              <a:lnSpc>
                <a:spcPct val="80000"/>
              </a:lnSpc>
              <a:spcBef>
                <a:spcPts val="715"/>
              </a:spcBef>
              <a:buFont typeface="Arial"/>
              <a:buChar char="•"/>
              <a:tabLst>
                <a:tab pos="369570" algn="l"/>
              </a:tabLst>
            </a:pPr>
            <a:r>
              <a:rPr sz="3000" dirty="0"/>
              <a:t>The</a:t>
            </a:r>
            <a:r>
              <a:rPr sz="3000" spc="-25" dirty="0"/>
              <a:t> </a:t>
            </a:r>
            <a:r>
              <a:rPr sz="3000" dirty="0"/>
              <a:t>carrier</a:t>
            </a:r>
            <a:r>
              <a:rPr sz="3000" spc="-70" dirty="0"/>
              <a:t> </a:t>
            </a:r>
            <a:r>
              <a:rPr sz="3000" dirty="0"/>
              <a:t>sense</a:t>
            </a:r>
            <a:r>
              <a:rPr sz="3000" spc="-25" dirty="0"/>
              <a:t> </a:t>
            </a:r>
            <a:r>
              <a:rPr sz="3000" dirty="0"/>
              <a:t>multiple</a:t>
            </a:r>
            <a:r>
              <a:rPr sz="3000" spc="-60" dirty="0"/>
              <a:t> </a:t>
            </a:r>
            <a:r>
              <a:rPr sz="3000" dirty="0"/>
              <a:t>access</a:t>
            </a:r>
            <a:r>
              <a:rPr sz="3000" spc="-45" dirty="0"/>
              <a:t> </a:t>
            </a:r>
            <a:r>
              <a:rPr sz="3000" spc="-10" dirty="0"/>
              <a:t>(CSMA) protocols:</a:t>
            </a:r>
            <a:endParaRPr sz="3000"/>
          </a:p>
          <a:p>
            <a:pPr marL="768985" lvl="1" indent="-286385">
              <a:lnSpc>
                <a:spcPct val="100000"/>
              </a:lnSpc>
              <a:spcBef>
                <a:spcPts val="15"/>
              </a:spcBef>
              <a:buFont typeface="Arial"/>
              <a:buChar char="–"/>
              <a:tabLst>
                <a:tab pos="768985" algn="l"/>
              </a:tabLst>
            </a:pPr>
            <a:r>
              <a:rPr sz="2600" b="1" dirty="0">
                <a:latin typeface="Carlito"/>
                <a:cs typeface="Carlito"/>
              </a:rPr>
              <a:t>CSMA</a:t>
            </a:r>
            <a:r>
              <a:rPr sz="2600" b="1" spc="-90" dirty="0">
                <a:latin typeface="Carlito"/>
                <a:cs typeface="Carlito"/>
              </a:rPr>
              <a:t> </a:t>
            </a:r>
            <a:r>
              <a:rPr sz="2600" b="1" dirty="0">
                <a:latin typeface="Carlito"/>
                <a:cs typeface="Carlito"/>
              </a:rPr>
              <a:t>with</a:t>
            </a:r>
            <a:r>
              <a:rPr sz="2600" b="1" spc="-80" dirty="0">
                <a:latin typeface="Carlito"/>
                <a:cs typeface="Carlito"/>
              </a:rPr>
              <a:t> </a:t>
            </a:r>
            <a:r>
              <a:rPr sz="2600" b="1" dirty="0">
                <a:latin typeface="Carlito"/>
                <a:cs typeface="Carlito"/>
              </a:rPr>
              <a:t>collision</a:t>
            </a:r>
            <a:r>
              <a:rPr sz="2600" b="1" spc="-95" dirty="0">
                <a:latin typeface="Carlito"/>
                <a:cs typeface="Carlito"/>
              </a:rPr>
              <a:t> </a:t>
            </a:r>
            <a:r>
              <a:rPr sz="2600" b="1" spc="-10" dirty="0">
                <a:latin typeface="Carlito"/>
                <a:cs typeface="Carlito"/>
              </a:rPr>
              <a:t>detection</a:t>
            </a:r>
            <a:r>
              <a:rPr sz="2600" b="1" spc="-60" dirty="0">
                <a:latin typeface="Carlito"/>
                <a:cs typeface="Carlito"/>
              </a:rPr>
              <a:t> </a:t>
            </a:r>
            <a:r>
              <a:rPr sz="2600" b="1" dirty="0">
                <a:latin typeface="Carlito"/>
                <a:cs typeface="Carlito"/>
              </a:rPr>
              <a:t>(CSMA/CD)</a:t>
            </a:r>
            <a:r>
              <a:rPr sz="2600" b="1" spc="-30" dirty="0">
                <a:latin typeface="Carlito"/>
                <a:cs typeface="Carlito"/>
              </a:rPr>
              <a:t> </a:t>
            </a:r>
            <a:r>
              <a:rPr sz="2600" spc="-10" dirty="0">
                <a:latin typeface="Carlito"/>
                <a:cs typeface="Carlito"/>
              </a:rPr>
              <a:t>protocols.</a:t>
            </a:r>
            <a:endParaRPr sz="2600">
              <a:latin typeface="Carlito"/>
              <a:cs typeface="Carlito"/>
            </a:endParaRPr>
          </a:p>
          <a:p>
            <a:pPr marL="768985" lvl="1" indent="-286385">
              <a:lnSpc>
                <a:spcPts val="3115"/>
              </a:lnSpc>
              <a:buFont typeface="Arial"/>
              <a:buChar char="–"/>
              <a:tabLst>
                <a:tab pos="768985" algn="l"/>
              </a:tabLst>
            </a:pPr>
            <a:r>
              <a:rPr sz="2600" b="1" dirty="0">
                <a:latin typeface="Carlito"/>
                <a:cs typeface="Carlito"/>
              </a:rPr>
              <a:t>CSMA</a:t>
            </a:r>
            <a:r>
              <a:rPr sz="2600" b="1" spc="-85" dirty="0">
                <a:latin typeface="Carlito"/>
                <a:cs typeface="Carlito"/>
              </a:rPr>
              <a:t> </a:t>
            </a:r>
            <a:r>
              <a:rPr sz="2600" b="1" dirty="0">
                <a:latin typeface="Carlito"/>
                <a:cs typeface="Carlito"/>
              </a:rPr>
              <a:t>with</a:t>
            </a:r>
            <a:r>
              <a:rPr sz="2600" b="1" spc="-70" dirty="0">
                <a:latin typeface="Carlito"/>
                <a:cs typeface="Carlito"/>
              </a:rPr>
              <a:t> </a:t>
            </a:r>
            <a:r>
              <a:rPr sz="2600" b="1" dirty="0">
                <a:latin typeface="Carlito"/>
                <a:cs typeface="Carlito"/>
              </a:rPr>
              <a:t>collision</a:t>
            </a:r>
            <a:r>
              <a:rPr sz="2600" b="1" spc="-90" dirty="0">
                <a:latin typeface="Carlito"/>
                <a:cs typeface="Carlito"/>
              </a:rPr>
              <a:t> </a:t>
            </a:r>
            <a:r>
              <a:rPr sz="2600" b="1" spc="-10" dirty="0">
                <a:latin typeface="Carlito"/>
                <a:cs typeface="Carlito"/>
              </a:rPr>
              <a:t>avoidance</a:t>
            </a:r>
            <a:r>
              <a:rPr sz="2600" b="1" spc="-65" dirty="0">
                <a:latin typeface="Carlito"/>
                <a:cs typeface="Carlito"/>
              </a:rPr>
              <a:t> </a:t>
            </a:r>
            <a:r>
              <a:rPr sz="2600" b="1" dirty="0">
                <a:latin typeface="Carlito"/>
                <a:cs typeface="Carlito"/>
              </a:rPr>
              <a:t>(CSMA/CA)</a:t>
            </a:r>
            <a:r>
              <a:rPr sz="2600" b="1" spc="10" dirty="0">
                <a:latin typeface="Carlito"/>
                <a:cs typeface="Carlito"/>
              </a:rPr>
              <a:t> </a:t>
            </a:r>
            <a:r>
              <a:rPr sz="2600" spc="-10" dirty="0">
                <a:latin typeface="Carlito"/>
                <a:cs typeface="Carlito"/>
              </a:rPr>
              <a:t>protocols.</a:t>
            </a:r>
            <a:endParaRPr sz="2600">
              <a:latin typeface="Carlito"/>
              <a:cs typeface="Carlito"/>
            </a:endParaRPr>
          </a:p>
          <a:p>
            <a:pPr marL="369570" indent="-344170">
              <a:lnSpc>
                <a:spcPts val="3595"/>
              </a:lnSpc>
              <a:buFont typeface="Arial"/>
              <a:buChar char="•"/>
              <a:tabLst>
                <a:tab pos="369570" algn="l"/>
              </a:tabLst>
            </a:pPr>
            <a:r>
              <a:rPr sz="3000" b="1" spc="-10" dirty="0">
                <a:latin typeface="Carlito"/>
                <a:cs typeface="Carlito"/>
              </a:rPr>
              <a:t>Details:-</a:t>
            </a:r>
            <a:endParaRPr sz="3000">
              <a:latin typeface="Carlito"/>
              <a:cs typeface="Carlito"/>
            </a:endParaRPr>
          </a:p>
          <a:p>
            <a:pPr marL="768985" lvl="1" indent="-286385">
              <a:lnSpc>
                <a:spcPct val="100000"/>
              </a:lnSpc>
              <a:spcBef>
                <a:spcPts val="15"/>
              </a:spcBef>
              <a:buFont typeface="Arial"/>
              <a:buChar char="–"/>
              <a:tabLst>
                <a:tab pos="768985" algn="l"/>
              </a:tabLst>
            </a:pPr>
            <a:r>
              <a:rPr sz="2600" dirty="0">
                <a:latin typeface="Carlito"/>
                <a:cs typeface="Carlito"/>
              </a:rPr>
              <a:t>Data</a:t>
            </a:r>
            <a:r>
              <a:rPr sz="2600" spc="-65" dirty="0">
                <a:latin typeface="Carlito"/>
                <a:cs typeface="Carlito"/>
              </a:rPr>
              <a:t> </a:t>
            </a:r>
            <a:r>
              <a:rPr sz="2600" spc="-10" dirty="0">
                <a:latin typeface="Carlito"/>
                <a:cs typeface="Carlito"/>
              </a:rPr>
              <a:t>Communications</a:t>
            </a:r>
            <a:r>
              <a:rPr sz="2600" spc="-6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and</a:t>
            </a:r>
            <a:r>
              <a:rPr sz="2600" spc="-80" dirty="0">
                <a:latin typeface="Carlito"/>
                <a:cs typeface="Carlito"/>
              </a:rPr>
              <a:t> </a:t>
            </a:r>
            <a:r>
              <a:rPr sz="2600" spc="-10" dirty="0">
                <a:latin typeface="Carlito"/>
                <a:cs typeface="Carlito"/>
              </a:rPr>
              <a:t>Networking</a:t>
            </a:r>
            <a:endParaRPr sz="2600">
              <a:latin typeface="Carlito"/>
              <a:cs typeface="Carlito"/>
            </a:endParaRPr>
          </a:p>
          <a:p>
            <a:pPr marL="768985" lvl="1" indent="-286385">
              <a:lnSpc>
                <a:spcPct val="100000"/>
              </a:lnSpc>
              <a:spcBef>
                <a:spcPts val="5"/>
              </a:spcBef>
              <a:buFont typeface="Arial"/>
              <a:buChar char="–"/>
              <a:tabLst>
                <a:tab pos="768985" algn="l"/>
              </a:tabLst>
            </a:pPr>
            <a:r>
              <a:rPr sz="2600" dirty="0">
                <a:latin typeface="Carlito"/>
                <a:cs typeface="Carlito"/>
              </a:rPr>
              <a:t>By-</a:t>
            </a:r>
            <a:r>
              <a:rPr sz="2600" spc="-2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B.</a:t>
            </a:r>
            <a:r>
              <a:rPr sz="2600" spc="-3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A.</a:t>
            </a:r>
            <a:r>
              <a:rPr sz="2600" spc="-25" dirty="0">
                <a:latin typeface="Carlito"/>
                <a:cs typeface="Carlito"/>
              </a:rPr>
              <a:t> </a:t>
            </a:r>
            <a:r>
              <a:rPr sz="2600" spc="-10" dirty="0">
                <a:latin typeface="Carlito"/>
                <a:cs typeface="Carlito"/>
              </a:rPr>
              <a:t>Forouzan.</a:t>
            </a:r>
            <a:endParaRPr sz="2600">
              <a:latin typeface="Carlito"/>
              <a:cs typeface="Carlito"/>
            </a:endParaRPr>
          </a:p>
          <a:p>
            <a:pPr marL="768985" lvl="1" indent="-286385">
              <a:lnSpc>
                <a:spcPct val="100000"/>
              </a:lnSpc>
              <a:buFont typeface="Arial"/>
              <a:buChar char="–"/>
              <a:tabLst>
                <a:tab pos="768985" algn="l"/>
              </a:tabLst>
            </a:pPr>
            <a:r>
              <a:rPr sz="2600" dirty="0">
                <a:latin typeface="Carlito"/>
                <a:cs typeface="Carlito"/>
              </a:rPr>
              <a:t>3</a:t>
            </a:r>
            <a:r>
              <a:rPr sz="2550" baseline="26143" dirty="0">
                <a:latin typeface="Carlito"/>
                <a:cs typeface="Carlito"/>
              </a:rPr>
              <a:t>rd</a:t>
            </a:r>
            <a:r>
              <a:rPr sz="2550" spc="232" baseline="26143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Edition,</a:t>
            </a:r>
            <a:r>
              <a:rPr sz="2600" spc="-10" dirty="0">
                <a:latin typeface="Carlito"/>
                <a:cs typeface="Carlito"/>
              </a:rPr>
              <a:t> Chap-</a:t>
            </a:r>
            <a:r>
              <a:rPr sz="2600" dirty="0">
                <a:latin typeface="Carlito"/>
                <a:cs typeface="Carlito"/>
              </a:rPr>
              <a:t>13</a:t>
            </a:r>
            <a:r>
              <a:rPr sz="2550" baseline="26143" dirty="0">
                <a:latin typeface="Carlito"/>
                <a:cs typeface="Carlito"/>
              </a:rPr>
              <a:t>th</a:t>
            </a:r>
            <a:r>
              <a:rPr sz="2550" spc="202" baseline="26143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,</a:t>
            </a:r>
            <a:r>
              <a:rPr sz="2600" spc="-3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Page:</a:t>
            </a:r>
            <a:r>
              <a:rPr sz="2600" spc="-45" dirty="0">
                <a:latin typeface="Carlito"/>
                <a:cs typeface="Carlito"/>
              </a:rPr>
              <a:t> </a:t>
            </a:r>
            <a:r>
              <a:rPr sz="2600" spc="-25" dirty="0">
                <a:latin typeface="Carlito"/>
                <a:cs typeface="Carlito"/>
              </a:rPr>
              <a:t>311</a:t>
            </a:r>
            <a:endParaRPr sz="260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84300">
              <a:lnSpc>
                <a:spcPct val="100000"/>
              </a:lnSpc>
              <a:spcBef>
                <a:spcPts val="95"/>
              </a:spcBef>
            </a:pPr>
            <a:r>
              <a:rPr spc="-75" dirty="0"/>
              <a:t>Taking-</a:t>
            </a:r>
            <a:r>
              <a:rPr spc="-10" dirty="0"/>
              <a:t>Turns</a:t>
            </a:r>
            <a:r>
              <a:rPr spc="-150" dirty="0"/>
              <a:t> </a:t>
            </a:r>
            <a:r>
              <a:rPr spc="-10" dirty="0"/>
              <a:t>Protocols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267633"/>
            <a:ext cx="7979409" cy="480060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445"/>
              </a:spcBef>
              <a:buFont typeface="Arial"/>
              <a:buChar char="•"/>
              <a:tabLst>
                <a:tab pos="356870" algn="l"/>
              </a:tabLst>
            </a:pPr>
            <a:r>
              <a:rPr sz="2700" dirty="0">
                <a:latin typeface="Carlito"/>
                <a:cs typeface="Carlito"/>
              </a:rPr>
              <a:t>The</a:t>
            </a:r>
            <a:r>
              <a:rPr sz="2700" spc="-10" dirty="0">
                <a:latin typeface="Carlito"/>
                <a:cs typeface="Carlito"/>
              </a:rPr>
              <a:t> </a:t>
            </a:r>
            <a:r>
              <a:rPr sz="2700" b="1" dirty="0">
                <a:latin typeface="Carlito"/>
                <a:cs typeface="Carlito"/>
              </a:rPr>
              <a:t>polling</a:t>
            </a:r>
            <a:r>
              <a:rPr sz="2700" b="1" spc="-65" dirty="0">
                <a:latin typeface="Carlito"/>
                <a:cs typeface="Carlito"/>
              </a:rPr>
              <a:t> </a:t>
            </a:r>
            <a:r>
              <a:rPr sz="2700" b="1" spc="-10" dirty="0">
                <a:latin typeface="Carlito"/>
                <a:cs typeface="Carlito"/>
              </a:rPr>
              <a:t>protocol:</a:t>
            </a:r>
            <a:endParaRPr sz="2700">
              <a:latin typeface="Carlito"/>
              <a:cs typeface="Carlito"/>
            </a:endParaRPr>
          </a:p>
          <a:p>
            <a:pPr marL="755015" lvl="1" indent="-285115">
              <a:lnSpc>
                <a:spcPts val="2735"/>
              </a:lnSpc>
              <a:spcBef>
                <a:spcPts val="305"/>
              </a:spcBef>
              <a:buFont typeface="Arial"/>
              <a:buChar char="–"/>
              <a:tabLst>
                <a:tab pos="755015" algn="l"/>
              </a:tabLst>
            </a:pPr>
            <a:r>
              <a:rPr sz="2400" dirty="0">
                <a:latin typeface="Carlito"/>
                <a:cs typeface="Carlito"/>
              </a:rPr>
              <a:t>The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polling</a:t>
            </a:r>
            <a:r>
              <a:rPr sz="2400" spc="-7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protocol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requires</a:t>
            </a:r>
            <a:r>
              <a:rPr sz="2400" spc="-9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one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of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nodes</a:t>
            </a:r>
            <a:r>
              <a:rPr sz="2400" spc="-6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to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25" dirty="0">
                <a:latin typeface="Carlito"/>
                <a:cs typeface="Carlito"/>
              </a:rPr>
              <a:t>be</a:t>
            </a:r>
            <a:endParaRPr sz="2400">
              <a:latin typeface="Carlito"/>
              <a:cs typeface="Carlito"/>
            </a:endParaRPr>
          </a:p>
          <a:p>
            <a:pPr marL="756285">
              <a:lnSpc>
                <a:spcPts val="2735"/>
              </a:lnSpc>
            </a:pPr>
            <a:r>
              <a:rPr sz="2400" spc="-10" dirty="0">
                <a:latin typeface="Carlito"/>
                <a:cs typeface="Carlito"/>
              </a:rPr>
              <a:t>designated</a:t>
            </a:r>
            <a:r>
              <a:rPr sz="2400" spc="-8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as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master</a:t>
            </a:r>
            <a:r>
              <a:rPr sz="2400" spc="-7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node.</a:t>
            </a:r>
            <a:endParaRPr sz="2400">
              <a:latin typeface="Carlito"/>
              <a:cs typeface="Carlito"/>
            </a:endParaRPr>
          </a:p>
          <a:p>
            <a:pPr marL="755015" lvl="1" indent="-285115">
              <a:lnSpc>
                <a:spcPts val="2735"/>
              </a:lnSpc>
              <a:spcBef>
                <a:spcPts val="290"/>
              </a:spcBef>
              <a:buFont typeface="Arial"/>
              <a:buChar char="–"/>
              <a:tabLst>
                <a:tab pos="755015" algn="l"/>
              </a:tabLst>
            </a:pPr>
            <a:r>
              <a:rPr sz="2400" dirty="0">
                <a:latin typeface="Carlito"/>
                <a:cs typeface="Carlito"/>
              </a:rPr>
              <a:t>The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master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node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b="1" dirty="0">
                <a:latin typeface="Carlito"/>
                <a:cs typeface="Carlito"/>
              </a:rPr>
              <a:t>polls</a:t>
            </a:r>
            <a:r>
              <a:rPr sz="2400" b="1" spc="-5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each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of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nodes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in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round-robin</a:t>
            </a:r>
            <a:endParaRPr sz="2400">
              <a:latin typeface="Carlito"/>
              <a:cs typeface="Carlito"/>
            </a:endParaRPr>
          </a:p>
          <a:p>
            <a:pPr marL="756285">
              <a:lnSpc>
                <a:spcPts val="2735"/>
              </a:lnSpc>
            </a:pPr>
            <a:r>
              <a:rPr sz="2400" spc="-10" dirty="0">
                <a:latin typeface="Carlito"/>
                <a:cs typeface="Carlito"/>
              </a:rPr>
              <a:t>fashion.</a:t>
            </a:r>
            <a:endParaRPr sz="2400">
              <a:latin typeface="Carlito"/>
              <a:cs typeface="Carlito"/>
            </a:endParaRPr>
          </a:p>
          <a:p>
            <a:pPr marL="754380" marR="455295" lvl="1" indent="-285115" algn="just">
              <a:lnSpc>
                <a:spcPct val="90000"/>
              </a:lnSpc>
              <a:spcBef>
                <a:spcPts val="580"/>
              </a:spcBef>
              <a:buFont typeface="Arial"/>
              <a:buChar char="–"/>
              <a:tabLst>
                <a:tab pos="756285" algn="l"/>
              </a:tabLst>
            </a:pPr>
            <a:r>
              <a:rPr sz="2400" dirty="0">
                <a:latin typeface="Carlito"/>
                <a:cs typeface="Carlito"/>
              </a:rPr>
              <a:t>In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particular,</a:t>
            </a:r>
            <a:r>
              <a:rPr sz="2400" spc="-7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7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master</a:t>
            </a:r>
            <a:r>
              <a:rPr sz="2400" spc="-6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node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first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sends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 message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35" dirty="0">
                <a:latin typeface="Carlito"/>
                <a:cs typeface="Carlito"/>
              </a:rPr>
              <a:t>to 	</a:t>
            </a:r>
            <a:r>
              <a:rPr sz="2400" dirty="0">
                <a:latin typeface="Carlito"/>
                <a:cs typeface="Carlito"/>
              </a:rPr>
              <a:t>node</a:t>
            </a:r>
            <a:r>
              <a:rPr sz="2400" spc="-7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1,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saying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that</a:t>
            </a:r>
            <a:r>
              <a:rPr sz="2400" spc="-6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it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(node</a:t>
            </a:r>
            <a:r>
              <a:rPr sz="2400" spc="-7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1)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can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transmit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up</a:t>
            </a:r>
            <a:r>
              <a:rPr sz="2400" spc="-6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to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some 	</a:t>
            </a:r>
            <a:r>
              <a:rPr sz="2400" dirty="0">
                <a:latin typeface="Carlito"/>
                <a:cs typeface="Carlito"/>
              </a:rPr>
              <a:t>maximum</a:t>
            </a:r>
            <a:r>
              <a:rPr sz="2400" spc="-6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number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of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frames.</a:t>
            </a:r>
            <a:endParaRPr sz="2400">
              <a:latin typeface="Carlito"/>
              <a:cs typeface="Carlito"/>
            </a:endParaRPr>
          </a:p>
          <a:p>
            <a:pPr marL="754380" marR="5080" lvl="1" indent="-285115">
              <a:lnSpc>
                <a:spcPct val="90000"/>
              </a:lnSpc>
              <a:spcBef>
                <a:spcPts val="575"/>
              </a:spcBef>
              <a:buFont typeface="Arial"/>
              <a:buChar char="–"/>
              <a:tabLst>
                <a:tab pos="756285" algn="l"/>
              </a:tabLst>
            </a:pPr>
            <a:r>
              <a:rPr sz="2400" dirty="0">
                <a:latin typeface="Carlito"/>
                <a:cs typeface="Carlito"/>
              </a:rPr>
              <a:t>After</a:t>
            </a:r>
            <a:r>
              <a:rPr sz="2400" spc="-6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node</a:t>
            </a:r>
            <a:r>
              <a:rPr sz="2400" spc="-7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1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transmits</a:t>
            </a:r>
            <a:r>
              <a:rPr sz="2400" spc="-11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some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frames,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7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master</a:t>
            </a:r>
            <a:r>
              <a:rPr sz="2400" spc="-7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node</a:t>
            </a:r>
            <a:r>
              <a:rPr sz="2400" spc="-7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tells 	</a:t>
            </a:r>
            <a:r>
              <a:rPr sz="2400" dirty="0">
                <a:latin typeface="Carlito"/>
                <a:cs typeface="Carlito"/>
              </a:rPr>
              <a:t>node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2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it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(node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2)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can transmit</a:t>
            </a:r>
            <a:r>
              <a:rPr sz="2400" spc="-8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up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to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maximum 	</a:t>
            </a:r>
            <a:r>
              <a:rPr sz="2400" dirty="0">
                <a:latin typeface="Carlito"/>
                <a:cs typeface="Carlito"/>
              </a:rPr>
              <a:t>number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of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frames.</a:t>
            </a:r>
            <a:endParaRPr sz="2400">
              <a:latin typeface="Carlito"/>
              <a:cs typeface="Carlito"/>
            </a:endParaRPr>
          </a:p>
          <a:p>
            <a:pPr marL="754380" marR="200660" lvl="1" indent="-285115">
              <a:lnSpc>
                <a:spcPts val="2590"/>
              </a:lnSpc>
              <a:spcBef>
                <a:spcPts val="620"/>
              </a:spcBef>
              <a:buFont typeface="Arial"/>
              <a:buChar char="–"/>
              <a:tabLst>
                <a:tab pos="756285" algn="l"/>
              </a:tabLst>
            </a:pPr>
            <a:r>
              <a:rPr sz="2400" dirty="0">
                <a:latin typeface="Carlito"/>
                <a:cs typeface="Carlito"/>
              </a:rPr>
              <a:t>The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procedure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continues</a:t>
            </a:r>
            <a:r>
              <a:rPr sz="2400" spc="-9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in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this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30" dirty="0">
                <a:latin typeface="Carlito"/>
                <a:cs typeface="Carlito"/>
              </a:rPr>
              <a:t>manner,</a:t>
            </a:r>
            <a:r>
              <a:rPr sz="2400" spc="-6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with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master 	</a:t>
            </a:r>
            <a:r>
              <a:rPr sz="2400" dirty="0">
                <a:latin typeface="Carlito"/>
                <a:cs typeface="Carlito"/>
              </a:rPr>
              <a:t>node</a:t>
            </a:r>
            <a:r>
              <a:rPr sz="2400" spc="-6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polling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each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of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6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nodes</a:t>
            </a:r>
            <a:r>
              <a:rPr sz="2400" spc="-6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in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cyclic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manner.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84300">
              <a:lnSpc>
                <a:spcPct val="100000"/>
              </a:lnSpc>
              <a:spcBef>
                <a:spcPts val="95"/>
              </a:spcBef>
            </a:pPr>
            <a:r>
              <a:rPr spc="-75" dirty="0"/>
              <a:t>Taking-</a:t>
            </a:r>
            <a:r>
              <a:rPr spc="-10" dirty="0"/>
              <a:t>Turns</a:t>
            </a:r>
            <a:r>
              <a:rPr spc="-150" dirty="0"/>
              <a:t> </a:t>
            </a:r>
            <a:r>
              <a:rPr spc="-10" dirty="0"/>
              <a:t>Protocols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513723"/>
            <a:ext cx="7996555" cy="3989704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855"/>
              </a:spcBef>
              <a:buFont typeface="Arial"/>
              <a:buChar char="•"/>
              <a:tabLst>
                <a:tab pos="356870" algn="l"/>
              </a:tabLst>
            </a:pPr>
            <a:r>
              <a:rPr sz="3000" dirty="0">
                <a:latin typeface="Carlito"/>
                <a:cs typeface="Carlito"/>
              </a:rPr>
              <a:t>The </a:t>
            </a:r>
            <a:r>
              <a:rPr sz="3000" b="1" spc="-35" dirty="0">
                <a:latin typeface="Carlito"/>
                <a:cs typeface="Carlito"/>
              </a:rPr>
              <a:t>token-</a:t>
            </a:r>
            <a:r>
              <a:rPr sz="3000" b="1" dirty="0">
                <a:latin typeface="Carlito"/>
                <a:cs typeface="Carlito"/>
              </a:rPr>
              <a:t>passing</a:t>
            </a:r>
            <a:r>
              <a:rPr sz="3000" b="1" spc="-10" dirty="0">
                <a:latin typeface="Carlito"/>
                <a:cs typeface="Carlito"/>
              </a:rPr>
              <a:t> protocol:</a:t>
            </a:r>
            <a:endParaRPr sz="3000">
              <a:latin typeface="Carlito"/>
              <a:cs typeface="Carlito"/>
            </a:endParaRPr>
          </a:p>
          <a:p>
            <a:pPr marL="756285" marR="401955" lvl="1" indent="-287020">
              <a:lnSpc>
                <a:spcPct val="100000"/>
              </a:lnSpc>
              <a:spcBef>
                <a:spcPts val="640"/>
              </a:spcBef>
              <a:buFont typeface="Arial"/>
              <a:buChar char="–"/>
              <a:tabLst>
                <a:tab pos="756285" algn="l"/>
              </a:tabLst>
            </a:pPr>
            <a:r>
              <a:rPr sz="2600" dirty="0">
                <a:latin typeface="Carlito"/>
                <a:cs typeface="Carlito"/>
              </a:rPr>
              <a:t>A</a:t>
            </a:r>
            <a:r>
              <a:rPr sz="2600" spc="-7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small,</a:t>
            </a:r>
            <a:r>
              <a:rPr sz="2600" spc="-60" dirty="0">
                <a:latin typeface="Carlito"/>
                <a:cs typeface="Carlito"/>
              </a:rPr>
              <a:t> </a:t>
            </a:r>
            <a:r>
              <a:rPr sz="2600" spc="-10" dirty="0">
                <a:latin typeface="Carlito"/>
                <a:cs typeface="Carlito"/>
              </a:rPr>
              <a:t>special-</a:t>
            </a:r>
            <a:r>
              <a:rPr sz="2600" dirty="0">
                <a:latin typeface="Carlito"/>
                <a:cs typeface="Carlito"/>
              </a:rPr>
              <a:t>purpose</a:t>
            </a:r>
            <a:r>
              <a:rPr sz="2600" spc="-7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frame</a:t>
            </a:r>
            <a:r>
              <a:rPr sz="2600" spc="-7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known</a:t>
            </a:r>
            <a:r>
              <a:rPr sz="2600" spc="-6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as</a:t>
            </a:r>
            <a:r>
              <a:rPr sz="2600" spc="-5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a</a:t>
            </a:r>
            <a:r>
              <a:rPr sz="2600" spc="-40" dirty="0">
                <a:latin typeface="Carlito"/>
                <a:cs typeface="Carlito"/>
              </a:rPr>
              <a:t> </a:t>
            </a:r>
            <a:r>
              <a:rPr sz="2600" b="1" dirty="0">
                <a:latin typeface="Carlito"/>
                <a:cs typeface="Carlito"/>
              </a:rPr>
              <a:t>token</a:t>
            </a:r>
            <a:r>
              <a:rPr sz="2600" b="1" spc="-35" dirty="0">
                <a:latin typeface="Carlito"/>
                <a:cs typeface="Carlito"/>
              </a:rPr>
              <a:t> </a:t>
            </a:r>
            <a:r>
              <a:rPr sz="2600" spc="-25" dirty="0">
                <a:latin typeface="Carlito"/>
                <a:cs typeface="Carlito"/>
              </a:rPr>
              <a:t>is </a:t>
            </a:r>
            <a:r>
              <a:rPr sz="2600" spc="-10" dirty="0">
                <a:latin typeface="Carlito"/>
                <a:cs typeface="Carlito"/>
              </a:rPr>
              <a:t>exchanged</a:t>
            </a:r>
            <a:r>
              <a:rPr sz="2600" spc="-9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among</a:t>
            </a:r>
            <a:r>
              <a:rPr sz="2600" spc="-2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the</a:t>
            </a:r>
            <a:r>
              <a:rPr sz="2600" spc="-6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nodes</a:t>
            </a:r>
            <a:r>
              <a:rPr sz="2600" spc="-6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in</a:t>
            </a:r>
            <a:r>
              <a:rPr sz="2600" spc="-7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some</a:t>
            </a:r>
            <a:r>
              <a:rPr sz="2600" spc="-5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fixed</a:t>
            </a:r>
            <a:r>
              <a:rPr sz="2600" spc="-65" dirty="0">
                <a:latin typeface="Carlito"/>
                <a:cs typeface="Carlito"/>
              </a:rPr>
              <a:t> </a:t>
            </a:r>
            <a:r>
              <a:rPr sz="2600" spc="-10" dirty="0">
                <a:latin typeface="Carlito"/>
                <a:cs typeface="Carlito"/>
              </a:rPr>
              <a:t>order.</a:t>
            </a:r>
            <a:endParaRPr sz="2600">
              <a:latin typeface="Carlito"/>
              <a:cs typeface="Carlito"/>
            </a:endParaRPr>
          </a:p>
          <a:p>
            <a:pPr marL="756285" marR="26034" lvl="1" indent="-287020">
              <a:lnSpc>
                <a:spcPct val="100000"/>
              </a:lnSpc>
              <a:spcBef>
                <a:spcPts val="630"/>
              </a:spcBef>
              <a:buFont typeface="Arial"/>
              <a:buChar char="–"/>
              <a:tabLst>
                <a:tab pos="756285" algn="l"/>
              </a:tabLst>
            </a:pPr>
            <a:r>
              <a:rPr sz="2600" dirty="0">
                <a:latin typeface="Carlito"/>
                <a:cs typeface="Carlito"/>
              </a:rPr>
              <a:t>For</a:t>
            </a:r>
            <a:r>
              <a:rPr sz="2600" spc="-70" dirty="0">
                <a:latin typeface="Carlito"/>
                <a:cs typeface="Carlito"/>
              </a:rPr>
              <a:t> </a:t>
            </a:r>
            <a:r>
              <a:rPr sz="2600" spc="-10" dirty="0">
                <a:latin typeface="Carlito"/>
                <a:cs typeface="Carlito"/>
              </a:rPr>
              <a:t>example,</a:t>
            </a:r>
            <a:r>
              <a:rPr sz="2600" spc="-5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node</a:t>
            </a:r>
            <a:r>
              <a:rPr sz="2600" spc="-7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1</a:t>
            </a:r>
            <a:r>
              <a:rPr sz="2600" spc="-8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might</a:t>
            </a:r>
            <a:r>
              <a:rPr sz="2600" spc="-65" dirty="0">
                <a:latin typeface="Carlito"/>
                <a:cs typeface="Carlito"/>
              </a:rPr>
              <a:t> </a:t>
            </a:r>
            <a:r>
              <a:rPr sz="2600" spc="-10" dirty="0">
                <a:latin typeface="Carlito"/>
                <a:cs typeface="Carlito"/>
              </a:rPr>
              <a:t>always</a:t>
            </a:r>
            <a:r>
              <a:rPr sz="2600" spc="-6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send</a:t>
            </a:r>
            <a:r>
              <a:rPr sz="2600" spc="-7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the</a:t>
            </a:r>
            <a:r>
              <a:rPr sz="2600" spc="-4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token</a:t>
            </a:r>
            <a:r>
              <a:rPr sz="2600" spc="-30" dirty="0">
                <a:latin typeface="Carlito"/>
                <a:cs typeface="Carlito"/>
              </a:rPr>
              <a:t> </a:t>
            </a:r>
            <a:r>
              <a:rPr sz="2600" spc="-25" dirty="0">
                <a:latin typeface="Carlito"/>
                <a:cs typeface="Carlito"/>
              </a:rPr>
              <a:t>to </a:t>
            </a:r>
            <a:r>
              <a:rPr sz="2600" dirty="0">
                <a:latin typeface="Carlito"/>
                <a:cs typeface="Carlito"/>
              </a:rPr>
              <a:t>node</a:t>
            </a:r>
            <a:r>
              <a:rPr sz="2600" spc="-6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2,</a:t>
            </a:r>
            <a:r>
              <a:rPr sz="2600" spc="-6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node</a:t>
            </a:r>
            <a:r>
              <a:rPr sz="2600" spc="-6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2</a:t>
            </a:r>
            <a:r>
              <a:rPr sz="2600" spc="-6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might</a:t>
            </a:r>
            <a:r>
              <a:rPr sz="2600" spc="-35" dirty="0">
                <a:latin typeface="Carlito"/>
                <a:cs typeface="Carlito"/>
              </a:rPr>
              <a:t> </a:t>
            </a:r>
            <a:r>
              <a:rPr sz="2600" spc="-10" dirty="0">
                <a:latin typeface="Carlito"/>
                <a:cs typeface="Carlito"/>
              </a:rPr>
              <a:t>always</a:t>
            </a:r>
            <a:r>
              <a:rPr sz="2600" spc="-5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send</a:t>
            </a:r>
            <a:r>
              <a:rPr sz="2600" spc="-6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the</a:t>
            </a:r>
            <a:r>
              <a:rPr sz="2600" spc="-6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token</a:t>
            </a:r>
            <a:r>
              <a:rPr sz="2600" spc="-2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to</a:t>
            </a:r>
            <a:r>
              <a:rPr sz="2600" spc="-45" dirty="0">
                <a:latin typeface="Carlito"/>
                <a:cs typeface="Carlito"/>
              </a:rPr>
              <a:t> </a:t>
            </a:r>
            <a:r>
              <a:rPr sz="2600" spc="-20" dirty="0">
                <a:latin typeface="Carlito"/>
                <a:cs typeface="Carlito"/>
              </a:rPr>
              <a:t>node </a:t>
            </a:r>
            <a:r>
              <a:rPr sz="2600" dirty="0">
                <a:latin typeface="Carlito"/>
                <a:cs typeface="Carlito"/>
              </a:rPr>
              <a:t>3,</a:t>
            </a:r>
            <a:r>
              <a:rPr sz="2600" spc="-6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and</a:t>
            </a:r>
            <a:r>
              <a:rPr sz="2600" spc="-7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node</a:t>
            </a:r>
            <a:r>
              <a:rPr sz="2600" spc="-55" dirty="0">
                <a:latin typeface="Carlito"/>
                <a:cs typeface="Carlito"/>
              </a:rPr>
              <a:t> </a:t>
            </a:r>
            <a:r>
              <a:rPr sz="2600" i="1" dirty="0">
                <a:latin typeface="Carlito"/>
                <a:cs typeface="Carlito"/>
              </a:rPr>
              <a:t>N</a:t>
            </a:r>
            <a:r>
              <a:rPr sz="2600" i="1" spc="-4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might</a:t>
            </a:r>
            <a:r>
              <a:rPr sz="2600" spc="-5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always</a:t>
            </a:r>
            <a:r>
              <a:rPr sz="2600" spc="-5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send</a:t>
            </a:r>
            <a:r>
              <a:rPr sz="2600" spc="-6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the</a:t>
            </a:r>
            <a:r>
              <a:rPr sz="2600" spc="-5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token</a:t>
            </a:r>
            <a:r>
              <a:rPr sz="2600" spc="-2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to</a:t>
            </a:r>
            <a:r>
              <a:rPr sz="2600" spc="-5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node</a:t>
            </a:r>
            <a:r>
              <a:rPr sz="2600" spc="-65" dirty="0">
                <a:latin typeface="Carlito"/>
                <a:cs typeface="Carlito"/>
              </a:rPr>
              <a:t> </a:t>
            </a:r>
            <a:r>
              <a:rPr sz="2600" spc="-25" dirty="0">
                <a:latin typeface="Carlito"/>
                <a:cs typeface="Carlito"/>
              </a:rPr>
              <a:t>1.</a:t>
            </a:r>
            <a:endParaRPr sz="260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625"/>
              </a:spcBef>
              <a:buFont typeface="Arial"/>
              <a:buChar char="–"/>
              <a:tabLst>
                <a:tab pos="756285" algn="l"/>
              </a:tabLst>
            </a:pPr>
            <a:r>
              <a:rPr sz="2600" dirty="0">
                <a:latin typeface="Carlito"/>
                <a:cs typeface="Carlito"/>
              </a:rPr>
              <a:t>When</a:t>
            </a:r>
            <a:r>
              <a:rPr sz="2600" spc="-5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a</a:t>
            </a:r>
            <a:r>
              <a:rPr sz="2600" spc="-4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node</a:t>
            </a:r>
            <a:r>
              <a:rPr sz="2600" spc="-5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receives</a:t>
            </a:r>
            <a:r>
              <a:rPr sz="2600" spc="-11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a</a:t>
            </a:r>
            <a:r>
              <a:rPr sz="2600" spc="-4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token,</a:t>
            </a:r>
            <a:r>
              <a:rPr sz="2600" spc="-2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it</a:t>
            </a:r>
            <a:r>
              <a:rPr sz="2600" spc="-5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holds</a:t>
            </a:r>
            <a:r>
              <a:rPr sz="2600" spc="-6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onto</a:t>
            </a:r>
            <a:r>
              <a:rPr sz="2600" spc="-4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the</a:t>
            </a:r>
            <a:r>
              <a:rPr sz="2600" spc="-35" dirty="0">
                <a:latin typeface="Carlito"/>
                <a:cs typeface="Carlito"/>
              </a:rPr>
              <a:t> </a:t>
            </a:r>
            <a:r>
              <a:rPr sz="2600" spc="-10" dirty="0">
                <a:latin typeface="Carlito"/>
                <a:cs typeface="Carlito"/>
              </a:rPr>
              <a:t>token </a:t>
            </a:r>
            <a:r>
              <a:rPr sz="2600" dirty="0">
                <a:latin typeface="Carlito"/>
                <a:cs typeface="Carlito"/>
              </a:rPr>
              <a:t>only</a:t>
            </a:r>
            <a:r>
              <a:rPr sz="2600" spc="-5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if</a:t>
            </a:r>
            <a:r>
              <a:rPr sz="2600" spc="-7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it</a:t>
            </a:r>
            <a:r>
              <a:rPr sz="2600" spc="-4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has</a:t>
            </a:r>
            <a:r>
              <a:rPr sz="2600" spc="-8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some</a:t>
            </a:r>
            <a:r>
              <a:rPr sz="2600" spc="-4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frames</a:t>
            </a:r>
            <a:r>
              <a:rPr sz="2600" spc="-6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to</a:t>
            </a:r>
            <a:r>
              <a:rPr sz="2600" spc="-5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transmit;</a:t>
            </a:r>
            <a:r>
              <a:rPr sz="2600" spc="-3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otherwise,</a:t>
            </a:r>
            <a:r>
              <a:rPr sz="2600" spc="-55" dirty="0">
                <a:latin typeface="Carlito"/>
                <a:cs typeface="Carlito"/>
              </a:rPr>
              <a:t> </a:t>
            </a:r>
            <a:r>
              <a:rPr sz="2600" spc="-25" dirty="0">
                <a:latin typeface="Carlito"/>
                <a:cs typeface="Carlito"/>
              </a:rPr>
              <a:t>it </a:t>
            </a:r>
            <a:r>
              <a:rPr sz="2600" spc="-10" dirty="0">
                <a:latin typeface="Carlito"/>
                <a:cs typeface="Carlito"/>
              </a:rPr>
              <a:t>immediately</a:t>
            </a:r>
            <a:r>
              <a:rPr sz="2600" spc="-60" dirty="0">
                <a:latin typeface="Carlito"/>
                <a:cs typeface="Carlito"/>
              </a:rPr>
              <a:t> </a:t>
            </a:r>
            <a:r>
              <a:rPr sz="2600" spc="-10" dirty="0">
                <a:latin typeface="Carlito"/>
                <a:cs typeface="Carlito"/>
              </a:rPr>
              <a:t>forwards</a:t>
            </a:r>
            <a:r>
              <a:rPr sz="2600" spc="-8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the</a:t>
            </a:r>
            <a:r>
              <a:rPr sz="2600" spc="-7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token</a:t>
            </a:r>
            <a:r>
              <a:rPr sz="2600" spc="-3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to</a:t>
            </a:r>
            <a:r>
              <a:rPr sz="2600" spc="-6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the</a:t>
            </a:r>
            <a:r>
              <a:rPr sz="2600" spc="-7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next</a:t>
            </a:r>
            <a:r>
              <a:rPr sz="2600" spc="-65" dirty="0">
                <a:latin typeface="Carlito"/>
                <a:cs typeface="Carlito"/>
              </a:rPr>
              <a:t> </a:t>
            </a:r>
            <a:r>
              <a:rPr sz="2600" spc="-10" dirty="0">
                <a:latin typeface="Carlito"/>
                <a:cs typeface="Carlito"/>
              </a:rPr>
              <a:t>node.</a:t>
            </a:r>
            <a:endParaRPr sz="260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2574" y="464896"/>
            <a:ext cx="7978851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dirty="0"/>
              <a:t>Address</a:t>
            </a:r>
            <a:r>
              <a:rPr sz="3600" spc="-180" dirty="0"/>
              <a:t> </a:t>
            </a:r>
            <a:r>
              <a:rPr sz="3600" dirty="0"/>
              <a:t>Resolution</a:t>
            </a:r>
            <a:r>
              <a:rPr sz="3600" spc="-155" dirty="0"/>
              <a:t> </a:t>
            </a:r>
            <a:r>
              <a:rPr sz="3600" dirty="0"/>
              <a:t>Protocol</a:t>
            </a:r>
            <a:r>
              <a:rPr sz="3600" spc="-180" dirty="0"/>
              <a:t> </a:t>
            </a:r>
            <a:r>
              <a:rPr sz="3600" spc="-10" dirty="0"/>
              <a:t>(ARP)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369570" marR="17780" indent="-344805">
              <a:lnSpc>
                <a:spcPct val="90000"/>
              </a:lnSpc>
              <a:spcBef>
                <a:spcPts val="475"/>
              </a:spcBef>
              <a:buFont typeface="Arial"/>
              <a:buChar char="•"/>
              <a:tabLst>
                <a:tab pos="369570" algn="l"/>
              </a:tabLst>
            </a:pPr>
            <a:r>
              <a:rPr dirty="0"/>
              <a:t>Internet</a:t>
            </a:r>
            <a:r>
              <a:rPr spc="-80" dirty="0"/>
              <a:t> </a:t>
            </a:r>
            <a:r>
              <a:rPr dirty="0"/>
              <a:t>IP</a:t>
            </a:r>
            <a:r>
              <a:rPr spc="-100" dirty="0"/>
              <a:t> </a:t>
            </a:r>
            <a:r>
              <a:rPr dirty="0"/>
              <a:t>addresses</a:t>
            </a:r>
            <a:r>
              <a:rPr spc="-60" dirty="0"/>
              <a:t> </a:t>
            </a:r>
            <a:r>
              <a:rPr dirty="0"/>
              <a:t>and</a:t>
            </a:r>
            <a:r>
              <a:rPr spc="-65" dirty="0"/>
              <a:t> </a:t>
            </a:r>
            <a:r>
              <a:rPr spc="-10" dirty="0"/>
              <a:t>link-</a:t>
            </a:r>
            <a:r>
              <a:rPr dirty="0"/>
              <a:t>layer</a:t>
            </a:r>
            <a:r>
              <a:rPr spc="-100" dirty="0"/>
              <a:t> </a:t>
            </a:r>
            <a:r>
              <a:rPr spc="-10" dirty="0"/>
              <a:t>addresses </a:t>
            </a:r>
            <a:r>
              <a:rPr dirty="0"/>
              <a:t>(MAC</a:t>
            </a:r>
            <a:r>
              <a:rPr spc="-75" dirty="0"/>
              <a:t> </a:t>
            </a:r>
            <a:r>
              <a:rPr dirty="0"/>
              <a:t>addresses)</a:t>
            </a:r>
            <a:r>
              <a:rPr spc="-35" dirty="0"/>
              <a:t> </a:t>
            </a:r>
            <a:r>
              <a:rPr dirty="0"/>
              <a:t>both</a:t>
            </a:r>
            <a:r>
              <a:rPr spc="-60" dirty="0"/>
              <a:t> </a:t>
            </a:r>
            <a:r>
              <a:rPr dirty="0"/>
              <a:t>are</a:t>
            </a:r>
            <a:r>
              <a:rPr spc="-55" dirty="0"/>
              <a:t> </a:t>
            </a:r>
            <a:r>
              <a:rPr spc="-30" dirty="0"/>
              <a:t>network-</a:t>
            </a:r>
            <a:r>
              <a:rPr spc="-10" dirty="0"/>
              <a:t>layer </a:t>
            </a:r>
            <a:r>
              <a:rPr dirty="0"/>
              <a:t>addresses</a:t>
            </a:r>
            <a:r>
              <a:rPr spc="-40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dirty="0"/>
              <a:t>there</a:t>
            </a:r>
            <a:r>
              <a:rPr spc="-65" dirty="0"/>
              <a:t> </a:t>
            </a:r>
            <a:r>
              <a:rPr dirty="0"/>
              <a:t>is</a:t>
            </a:r>
            <a:r>
              <a:rPr spc="-75" dirty="0"/>
              <a:t> </a:t>
            </a:r>
            <a:r>
              <a:rPr dirty="0"/>
              <a:t>a</a:t>
            </a:r>
            <a:r>
              <a:rPr spc="-75" dirty="0"/>
              <a:t> </a:t>
            </a:r>
            <a:r>
              <a:rPr dirty="0"/>
              <a:t>need</a:t>
            </a:r>
            <a:r>
              <a:rPr spc="-35" dirty="0"/>
              <a:t> </a:t>
            </a:r>
            <a:r>
              <a:rPr dirty="0"/>
              <a:t>to</a:t>
            </a:r>
            <a:r>
              <a:rPr spc="-60" dirty="0"/>
              <a:t> </a:t>
            </a:r>
            <a:r>
              <a:rPr spc="-10" dirty="0"/>
              <a:t>translate </a:t>
            </a:r>
            <a:r>
              <a:rPr dirty="0"/>
              <a:t>between</a:t>
            </a:r>
            <a:r>
              <a:rPr spc="-35" dirty="0"/>
              <a:t> </a:t>
            </a:r>
            <a:r>
              <a:rPr dirty="0"/>
              <a:t>them.</a:t>
            </a:r>
            <a:r>
              <a:rPr spc="-60" dirty="0"/>
              <a:t> </a:t>
            </a:r>
            <a:r>
              <a:rPr dirty="0"/>
              <a:t>For</a:t>
            </a:r>
            <a:r>
              <a:rPr spc="-75" dirty="0"/>
              <a:t> </a:t>
            </a:r>
            <a:r>
              <a:rPr dirty="0"/>
              <a:t>the</a:t>
            </a:r>
            <a:r>
              <a:rPr spc="-65" dirty="0"/>
              <a:t> </a:t>
            </a:r>
            <a:r>
              <a:rPr dirty="0"/>
              <a:t>Internet,</a:t>
            </a:r>
            <a:r>
              <a:rPr spc="-80" dirty="0"/>
              <a:t> </a:t>
            </a:r>
            <a:r>
              <a:rPr dirty="0"/>
              <a:t>this</a:t>
            </a:r>
            <a:r>
              <a:rPr spc="-65" dirty="0"/>
              <a:t> </a:t>
            </a:r>
            <a:r>
              <a:rPr dirty="0"/>
              <a:t>is</a:t>
            </a:r>
            <a:r>
              <a:rPr spc="-85" dirty="0"/>
              <a:t> </a:t>
            </a:r>
            <a:r>
              <a:rPr dirty="0"/>
              <a:t>the</a:t>
            </a:r>
            <a:r>
              <a:rPr spc="-80" dirty="0"/>
              <a:t> </a:t>
            </a:r>
            <a:r>
              <a:rPr spc="-25" dirty="0"/>
              <a:t>job </a:t>
            </a:r>
            <a:r>
              <a:rPr dirty="0"/>
              <a:t>of</a:t>
            </a:r>
            <a:r>
              <a:rPr spc="-100" dirty="0"/>
              <a:t> </a:t>
            </a:r>
            <a:r>
              <a:rPr dirty="0"/>
              <a:t>the</a:t>
            </a:r>
            <a:r>
              <a:rPr spc="-80" dirty="0"/>
              <a:t> </a:t>
            </a:r>
            <a:r>
              <a:rPr b="1" dirty="0">
                <a:latin typeface="Carlito"/>
                <a:cs typeface="Carlito"/>
              </a:rPr>
              <a:t>Address</a:t>
            </a:r>
            <a:r>
              <a:rPr b="1" spc="-65" dirty="0">
                <a:latin typeface="Carlito"/>
                <a:cs typeface="Carlito"/>
              </a:rPr>
              <a:t> </a:t>
            </a:r>
            <a:r>
              <a:rPr b="1" dirty="0">
                <a:latin typeface="Carlito"/>
                <a:cs typeface="Carlito"/>
              </a:rPr>
              <a:t>Resolution</a:t>
            </a:r>
            <a:r>
              <a:rPr b="1" spc="-75" dirty="0">
                <a:latin typeface="Carlito"/>
                <a:cs typeface="Carlito"/>
              </a:rPr>
              <a:t> </a:t>
            </a:r>
            <a:r>
              <a:rPr b="1" spc="-10" dirty="0">
                <a:latin typeface="Carlito"/>
                <a:cs typeface="Carlito"/>
              </a:rPr>
              <a:t>Protocol</a:t>
            </a:r>
            <a:r>
              <a:rPr b="1" spc="-100" dirty="0">
                <a:latin typeface="Carlito"/>
                <a:cs typeface="Carlito"/>
              </a:rPr>
              <a:t> </a:t>
            </a:r>
            <a:r>
              <a:rPr b="1" spc="-10" dirty="0">
                <a:latin typeface="Carlito"/>
                <a:cs typeface="Carlito"/>
              </a:rPr>
              <a:t>(ARP)</a:t>
            </a:r>
          </a:p>
          <a:p>
            <a:pPr marL="369570" indent="-344170">
              <a:lnSpc>
                <a:spcPct val="100000"/>
              </a:lnSpc>
              <a:spcBef>
                <a:spcPts val="390"/>
              </a:spcBef>
              <a:buFont typeface="Arial"/>
              <a:buChar char="•"/>
              <a:tabLst>
                <a:tab pos="369570" algn="l"/>
              </a:tabLst>
            </a:pPr>
            <a:r>
              <a:rPr b="1" spc="-10" dirty="0">
                <a:latin typeface="Carlito"/>
                <a:cs typeface="Carlito"/>
              </a:rPr>
              <a:t>Details:-</a:t>
            </a:r>
          </a:p>
          <a:p>
            <a:pPr marL="767715" lvl="1" indent="-285115">
              <a:lnSpc>
                <a:spcPct val="100000"/>
              </a:lnSpc>
              <a:spcBef>
                <a:spcPts val="355"/>
              </a:spcBef>
              <a:buFont typeface="Arial"/>
              <a:buChar char="–"/>
              <a:tabLst>
                <a:tab pos="767715" algn="l"/>
              </a:tabLst>
            </a:pPr>
            <a:r>
              <a:rPr sz="2800" dirty="0">
                <a:latin typeface="Carlito"/>
                <a:cs typeface="Carlito"/>
              </a:rPr>
              <a:t>Data</a:t>
            </a:r>
            <a:r>
              <a:rPr sz="2800" spc="-12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Communications</a:t>
            </a:r>
            <a:r>
              <a:rPr sz="2800" spc="-7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and</a:t>
            </a:r>
            <a:r>
              <a:rPr sz="2800" spc="-8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Networking</a:t>
            </a:r>
            <a:endParaRPr sz="2800">
              <a:latin typeface="Carlito"/>
              <a:cs typeface="Carlito"/>
            </a:endParaRPr>
          </a:p>
          <a:p>
            <a:pPr marL="768350" lvl="1" indent="-285750">
              <a:lnSpc>
                <a:spcPct val="100000"/>
              </a:lnSpc>
              <a:spcBef>
                <a:spcPts val="335"/>
              </a:spcBef>
              <a:buFont typeface="Arial"/>
              <a:buChar char="–"/>
              <a:tabLst>
                <a:tab pos="768350" algn="l"/>
              </a:tabLst>
            </a:pPr>
            <a:r>
              <a:rPr sz="2800" dirty="0">
                <a:latin typeface="Carlito"/>
                <a:cs typeface="Carlito"/>
              </a:rPr>
              <a:t>By-</a:t>
            </a:r>
            <a:r>
              <a:rPr sz="2800" spc="-1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B.</a:t>
            </a:r>
            <a:r>
              <a:rPr sz="2800" spc="-3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A.</a:t>
            </a:r>
            <a:r>
              <a:rPr sz="2800" spc="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Forouzan</a:t>
            </a:r>
            <a:endParaRPr sz="2800">
              <a:latin typeface="Carlito"/>
              <a:cs typeface="Carlito"/>
            </a:endParaRPr>
          </a:p>
          <a:p>
            <a:pPr marL="768350" lvl="1" indent="-285750">
              <a:lnSpc>
                <a:spcPct val="100000"/>
              </a:lnSpc>
              <a:spcBef>
                <a:spcPts val="335"/>
              </a:spcBef>
              <a:buFont typeface="Arial"/>
              <a:buChar char="–"/>
              <a:tabLst>
                <a:tab pos="768350" algn="l"/>
              </a:tabLst>
            </a:pPr>
            <a:r>
              <a:rPr sz="2800" dirty="0">
                <a:latin typeface="Carlito"/>
                <a:cs typeface="Carlito"/>
              </a:rPr>
              <a:t>3</a:t>
            </a:r>
            <a:r>
              <a:rPr sz="2775" baseline="25525" dirty="0">
                <a:latin typeface="Carlito"/>
                <a:cs typeface="Carlito"/>
              </a:rPr>
              <a:t>rd</a:t>
            </a:r>
            <a:r>
              <a:rPr sz="2775" spc="209" baseline="2552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Edition,</a:t>
            </a:r>
            <a:r>
              <a:rPr sz="2800" spc="-10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Page:</a:t>
            </a:r>
            <a:r>
              <a:rPr sz="2800" spc="-75" dirty="0">
                <a:latin typeface="Carlito"/>
                <a:cs typeface="Carlito"/>
              </a:rPr>
              <a:t> </a:t>
            </a:r>
            <a:r>
              <a:rPr sz="2800" spc="-25" dirty="0">
                <a:latin typeface="Carlito"/>
                <a:cs typeface="Carlito"/>
              </a:rPr>
              <a:t>514</a:t>
            </a:r>
            <a:endParaRPr sz="280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2574" y="464896"/>
            <a:ext cx="7978851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dirty="0"/>
              <a:t>Address</a:t>
            </a:r>
            <a:r>
              <a:rPr sz="3600" spc="-180" dirty="0"/>
              <a:t> </a:t>
            </a:r>
            <a:r>
              <a:rPr sz="3600" dirty="0"/>
              <a:t>Resolution</a:t>
            </a:r>
            <a:r>
              <a:rPr sz="3600" spc="-155" dirty="0"/>
              <a:t> </a:t>
            </a:r>
            <a:r>
              <a:rPr sz="3600" dirty="0"/>
              <a:t>Protocol</a:t>
            </a:r>
            <a:r>
              <a:rPr sz="3600" spc="-180" dirty="0"/>
              <a:t> </a:t>
            </a:r>
            <a:r>
              <a:rPr sz="3600" spc="-10" dirty="0"/>
              <a:t>(ARP)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7266" y="1425910"/>
            <a:ext cx="7390061" cy="463092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Address</a:t>
            </a:r>
            <a:r>
              <a:rPr spc="-180" dirty="0"/>
              <a:t> </a:t>
            </a:r>
            <a:r>
              <a:rPr dirty="0"/>
              <a:t>Resolution</a:t>
            </a:r>
            <a:r>
              <a:rPr spc="-155" dirty="0"/>
              <a:t> </a:t>
            </a:r>
            <a:r>
              <a:rPr dirty="0"/>
              <a:t>Protocol</a:t>
            </a:r>
            <a:r>
              <a:rPr spc="-180" dirty="0"/>
              <a:t> </a:t>
            </a:r>
            <a:r>
              <a:rPr spc="-10" dirty="0"/>
              <a:t>(ARP)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9225" y="2428123"/>
            <a:ext cx="8105311" cy="2067318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2" name="object 2"/>
          <p:cNvSpPr txBox="1"/>
          <p:nvPr/>
        </p:nvSpPr>
        <p:spPr>
          <a:xfrm>
            <a:off x="4011928" y="3044139"/>
            <a:ext cx="1703071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25" dirty="0" smtClean="0">
                <a:latin typeface="Carlito"/>
                <a:cs typeface="Carlito"/>
              </a:rPr>
              <a:t>EN</a:t>
            </a:r>
            <a:r>
              <a:rPr lang="en-US" sz="4400" spc="-25" dirty="0" smtClean="0">
                <a:latin typeface="Carlito"/>
                <a:cs typeface="Carlito"/>
              </a:rPr>
              <a:t>D</a:t>
            </a:r>
            <a:endParaRPr sz="4400" dirty="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</TotalTime>
  <Words>819</Words>
  <Application>Microsoft Office PowerPoint</Application>
  <PresentationFormat>On-screen Show (4:3)</PresentationFormat>
  <Paragraphs>96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Carlito</vt:lpstr>
      <vt:lpstr>Office Theme</vt:lpstr>
      <vt:lpstr>MAC Protocols</vt:lpstr>
      <vt:lpstr>Multiple Access Protocols</vt:lpstr>
      <vt:lpstr>Multiple Access Protocols</vt:lpstr>
      <vt:lpstr>Multiple Access Protocols</vt:lpstr>
      <vt:lpstr>Multiple Access Protocols</vt:lpstr>
      <vt:lpstr>Multiple Access Protocols</vt:lpstr>
      <vt:lpstr>Channel Partitioning Protocols</vt:lpstr>
      <vt:lpstr>Channel Partitioning Protocols</vt:lpstr>
      <vt:lpstr>Channel Partitioning Protocols</vt:lpstr>
      <vt:lpstr>Channel Partitioning Protocols</vt:lpstr>
      <vt:lpstr>Random access protocols</vt:lpstr>
      <vt:lpstr>Random access protocols</vt:lpstr>
      <vt:lpstr>Taking-Turns Protocols</vt:lpstr>
      <vt:lpstr>Taking-Turns Protocols</vt:lpstr>
      <vt:lpstr>Address Resolution Protocol (ARP)</vt:lpstr>
      <vt:lpstr>Address Resolution Protocol (ARP)</vt:lpstr>
      <vt:lpstr>Address Resolution Protocol (ARP)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shamim</dc:creator>
  <cp:lastModifiedBy>Laila Binta Mustafiz 180610</cp:lastModifiedBy>
  <cp:revision>5</cp:revision>
  <dcterms:created xsi:type="dcterms:W3CDTF">2024-12-04T01:11:00Z</dcterms:created>
  <dcterms:modified xsi:type="dcterms:W3CDTF">2025-05-18T15:13:35Z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2014-08-21T00:00:00Z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2024-12-04T00:00:00Z</vt:filetime>
  </property>
  <property fmtid="{D5CDD505-2E9C-101B-9397-08002B2CF9AE}" pid="5" name="Producer">
    <vt:lpwstr>3-Heights(TM) PDF Security Shell 4.8.25.2 (http://www.pdf-tools.com)</vt:lpwstr>
  </property>
</Properties>
</file>