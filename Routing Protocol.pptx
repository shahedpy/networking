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8" r:id="rId22"/>
    <p:sldId id="279" r:id="rId23"/>
    <p:sldId id="280" r:id="rId24"/>
    <p:sldId id="277" r:id="rId2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14E5B-ED0B-497A-A8BF-A346D63D19B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AFC0E-115E-4E82-BF50-9FE1B03BF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0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AFC0E-115E-4E82-BF50-9FE1B03BF7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83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61335" y="2485136"/>
            <a:ext cx="4020184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8/29/2014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8/29/2014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8/29/2014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8/29/2014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8/29/2014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8982" y="190322"/>
            <a:ext cx="7546035" cy="1246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1527124"/>
            <a:ext cx="7948295" cy="4260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6244" y="6466509"/>
            <a:ext cx="6762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8/29/2014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347973" y="6374993"/>
            <a:ext cx="2452370" cy="361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33054" y="6466509"/>
            <a:ext cx="21590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76b1d1510d0b1bcc&amp;sxsrf=AE3TifP4uy5Ae6IWnVPcsRPf5VDOw5y4tQ%3A1760458691865&amp;q=link-state+database+%28LSDB%29&amp;sa=X&amp;sqi=2&amp;ved=2ahUKEwiQreHXi6SQAxXeSmwGHa6CEdkQxccNegQILBAC&amp;mstk=AUtExfA3c4811yJMjJyYrRV_6KphQHz67jUbl_MRaeuIlv3w35TVyfUw4HsV_bcJvVohvuD4nOPD6ausfeo-7Adr7AhASON9-s8T9JYWaUF-dewcZaBfhQ5fXL9XG73NrwUEBnW0CUe0ezJR5CcmPrsonP5KrjNdj8dODfy5Xd9wQRYitjgytIPkLX20wM-JXaj7FODcbtNSxZ2wVF30EQVlM0HIb7HbB3bsQ4N6Iu4eH9EDDGu7w5lmgt_tL56leNrecyG5ToorQ0dSOvHxQtTrwtsi&amp;csui=3" TargetMode="External"/><Relationship Id="rId2" Type="http://schemas.openxmlformats.org/officeDocument/2006/relationships/hyperlink" Target="https://www.google.com/search?sca_esv=76b1d1510d0b1bcc&amp;sxsrf=AE3TifP4uy5Ae6IWnVPcsRPf5VDOw5y4tQ%3A1760458691865&amp;q=Link+State+Advertisements+%28LSAs%29&amp;sa=X&amp;sqi=2&amp;ved=2ahUKEwiQreHXi6SQAxXeSmwGHa6CEdkQxccNegQILBAB&amp;mstk=AUtExfA3c4811yJMjJyYrRV_6KphQHz67jUbl_MRaeuIlv3w35TVyfUw4HsV_bcJvVohvuD4nOPD6ausfeo-7Adr7AhASON9-s8T9JYWaUF-dewcZaBfhQ5fXL9XG73NrwUEBnW0CUe0ezJR5CcmPrsonP5KrjNdj8dODfy5Xd9wQRYitjgytIPkLX20wM-JXaj7FODcbtNSxZ2wVF30EQVlM0HIb7HbB3bsQ4N6Iu4eH9EDDGu7w5lmgt_tL56leNrecyG5ToorQ0dSOvHxQtTrwtsi&amp;csui=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sca_esv=76b1d1510d0b1bcc&amp;sxsrf=AE3TifP4uy5Ae6IWnVPcsRPf5VDOw5y4tQ%3A1760458691865&amp;q=Dijkstra%27s+algorithm&amp;sa=X&amp;sqi=2&amp;ved=2ahUKEwiQreHXi6SQAxXeSmwGHa6CEdkQxccNegQIKxAB&amp;mstk=AUtExfA3c4811yJMjJyYrRV_6KphQHz67jUbl_MRaeuIlv3w35TVyfUw4HsV_bcJvVohvuD4nOPD6ausfeo-7Adr7AhASON9-s8T9JYWaUF-dewcZaBfhQ5fXL9XG73NrwUEBnW0CUe0ezJR5CcmPrsonP5KrjNdj8dODfy5Xd9wQRYitjgytIPkLX20wM-JXaj7FODcbtNSxZ2wVF30EQVlM0HIb7HbB3bsQ4N6Iu4eH9EDDGu7w5lmgt_tL56leNrecyG5ToorQ0dSOvHxQtTrwtsi&amp;csui=3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b="0" dirty="0">
                <a:latin typeface="Calibri"/>
                <a:cs typeface="Calibri"/>
              </a:rPr>
              <a:t>Routing</a:t>
            </a:r>
            <a:r>
              <a:rPr sz="4400" b="0" spc="-210" dirty="0">
                <a:latin typeface="Calibri"/>
                <a:cs typeface="Calibri"/>
              </a:rPr>
              <a:t> </a:t>
            </a:r>
            <a:r>
              <a:rPr sz="4400" b="0" spc="-10" dirty="0">
                <a:latin typeface="Calibri"/>
                <a:cs typeface="Calibri"/>
              </a:rPr>
              <a:t>Protocols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8288" y="464896"/>
            <a:ext cx="402590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dirty="0">
                <a:latin typeface="Calibri"/>
                <a:cs typeface="Calibri"/>
              </a:rPr>
              <a:t>Routing</a:t>
            </a:r>
            <a:r>
              <a:rPr sz="4400" b="0" spc="-204" dirty="0">
                <a:latin typeface="Calibri"/>
                <a:cs typeface="Calibri"/>
              </a:rPr>
              <a:t> </a:t>
            </a:r>
            <a:r>
              <a:rPr sz="4400" b="0" spc="-10" dirty="0">
                <a:latin typeface="Calibri"/>
                <a:cs typeface="Calibri"/>
              </a:rPr>
              <a:t>protocols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7599680" cy="4100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Routing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protocol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determine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how </a:t>
            </a:r>
            <a:r>
              <a:rPr sz="3200" dirty="0">
                <a:latin typeface="Calibri"/>
                <a:cs typeface="Calibri"/>
              </a:rPr>
              <a:t>routing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performed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within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autonomous </a:t>
            </a:r>
            <a:r>
              <a:rPr sz="3200" spc="-20" dirty="0">
                <a:latin typeface="Calibri"/>
                <a:cs typeface="Calibri"/>
              </a:rPr>
              <a:t>system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(AS).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Intra-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routing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protocols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are </a:t>
            </a:r>
            <a:r>
              <a:rPr sz="3200" dirty="0">
                <a:latin typeface="Calibri"/>
                <a:cs typeface="Calibri"/>
              </a:rPr>
              <a:t>also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known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interior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gateway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protocols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common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Routing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protocols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are:</a:t>
            </a:r>
            <a:endParaRPr sz="32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5015" algn="l"/>
              </a:tabLst>
            </a:pPr>
            <a:r>
              <a:rPr sz="2800" b="1" dirty="0">
                <a:latin typeface="Calibri"/>
                <a:cs typeface="Calibri"/>
              </a:rPr>
              <a:t>Routing</a:t>
            </a:r>
            <a:r>
              <a:rPr sz="2800" b="1" spc="-1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Information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Protocol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(RIP).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b="1" dirty="0">
                <a:latin typeface="Calibri"/>
                <a:cs typeface="Calibri"/>
              </a:rPr>
              <a:t>Open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Shortest</a:t>
            </a:r>
            <a:r>
              <a:rPr sz="2800" b="1" spc="-114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Path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First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(OSPF)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5015" algn="l"/>
              </a:tabLst>
            </a:pPr>
            <a:r>
              <a:rPr sz="2800" b="1" dirty="0">
                <a:latin typeface="Calibri"/>
                <a:cs typeface="Calibri"/>
              </a:rPr>
              <a:t>Border</a:t>
            </a:r>
            <a:r>
              <a:rPr sz="2800" b="1" spc="-1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Gateway</a:t>
            </a:r>
            <a:r>
              <a:rPr sz="2800" b="1" spc="-114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Protocol</a:t>
            </a:r>
            <a:r>
              <a:rPr sz="2800" b="1" spc="-1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(BGP).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Broadcast</a:t>
            </a:r>
            <a:r>
              <a:rPr sz="4400" spc="-170" dirty="0"/>
              <a:t> </a:t>
            </a:r>
            <a:r>
              <a:rPr sz="4400" dirty="0"/>
              <a:t>and</a:t>
            </a:r>
            <a:r>
              <a:rPr sz="4400" spc="-165" dirty="0"/>
              <a:t> </a:t>
            </a:r>
            <a:r>
              <a:rPr sz="4400" dirty="0"/>
              <a:t>Multicast</a:t>
            </a:r>
            <a:r>
              <a:rPr sz="4400" spc="-170" dirty="0"/>
              <a:t> </a:t>
            </a:r>
            <a:r>
              <a:rPr sz="4400" spc="-10" dirty="0"/>
              <a:t>Routing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8023859" cy="304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dirty="0">
                <a:latin typeface="Calibri"/>
                <a:cs typeface="Calibri"/>
              </a:rPr>
              <a:t>broadcast</a:t>
            </a:r>
            <a:r>
              <a:rPr sz="3200" b="1" spc="-1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routing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network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layer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provides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service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delivering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packet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sent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a </a:t>
            </a:r>
            <a:r>
              <a:rPr sz="3200" dirty="0">
                <a:latin typeface="Calibri"/>
                <a:cs typeface="Calibri"/>
              </a:rPr>
              <a:t>source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other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network.</a:t>
            </a:r>
            <a:endParaRPr sz="3200">
              <a:latin typeface="Calibri"/>
              <a:cs typeface="Calibri"/>
            </a:endParaRPr>
          </a:p>
          <a:p>
            <a:pPr marL="356870" marR="108585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dirty="0">
                <a:latin typeface="Calibri"/>
                <a:cs typeface="Calibri"/>
              </a:rPr>
              <a:t>multicast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routing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enables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single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source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send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copy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packet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subset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other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network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nodes.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38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Broadcast</a:t>
            </a:r>
            <a:r>
              <a:rPr sz="4400" spc="-210" dirty="0"/>
              <a:t> </a:t>
            </a:r>
            <a:r>
              <a:rPr sz="4400" dirty="0"/>
              <a:t>Routing</a:t>
            </a:r>
            <a:r>
              <a:rPr sz="4400" spc="-204" dirty="0"/>
              <a:t> </a:t>
            </a:r>
            <a:r>
              <a:rPr sz="4400" spc="-10" dirty="0"/>
              <a:t>Algorithms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6244" y="1560652"/>
            <a:ext cx="8052434" cy="422021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56870" marR="328295" indent="-344805">
              <a:lnSpc>
                <a:spcPts val="3460"/>
              </a:lnSpc>
              <a:spcBef>
                <a:spcPts val="52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sending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separate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copy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packet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destination.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90000"/>
              </a:lnSpc>
              <a:spcBef>
                <a:spcPts val="71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N</a:t>
            </a:r>
            <a:r>
              <a:rPr sz="3200" i="1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destination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nodes,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source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node </a:t>
            </a:r>
            <a:r>
              <a:rPr sz="3200" dirty="0">
                <a:latin typeface="Calibri"/>
                <a:cs typeface="Calibri"/>
              </a:rPr>
              <a:t>simply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makes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N</a:t>
            </a:r>
            <a:r>
              <a:rPr sz="3200" i="1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copies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packet, </a:t>
            </a:r>
            <a:r>
              <a:rPr sz="3200" dirty="0">
                <a:latin typeface="Calibri"/>
                <a:cs typeface="Calibri"/>
              </a:rPr>
              <a:t>addresses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copy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different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destination,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transmits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N</a:t>
            </a:r>
            <a:r>
              <a:rPr sz="3200" i="1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copies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i="1" spc="-50" dirty="0">
                <a:latin typeface="Calibri"/>
                <a:cs typeface="Calibri"/>
              </a:rPr>
              <a:t>N </a:t>
            </a:r>
            <a:r>
              <a:rPr sz="3200" spc="-10" dirty="0">
                <a:latin typeface="Calibri"/>
                <a:cs typeface="Calibri"/>
              </a:rPr>
              <a:t>destinations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using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unicast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routing.</a:t>
            </a:r>
            <a:endParaRPr sz="3200">
              <a:latin typeface="Calibri"/>
              <a:cs typeface="Calibri"/>
            </a:endParaRPr>
          </a:p>
          <a:p>
            <a:pPr marL="356870" marR="1036955" indent="-344805">
              <a:lnSpc>
                <a:spcPts val="3460"/>
              </a:lnSpc>
              <a:spcBef>
                <a:spcPts val="81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This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called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N-</a:t>
            </a:r>
            <a:r>
              <a:rPr sz="3200" b="1" spc="-35" dirty="0">
                <a:latin typeface="Calibri"/>
                <a:cs typeface="Calibri"/>
              </a:rPr>
              <a:t>way-</a:t>
            </a:r>
            <a:r>
              <a:rPr sz="3200" b="1" dirty="0">
                <a:latin typeface="Calibri"/>
                <a:cs typeface="Calibri"/>
              </a:rPr>
              <a:t>unicast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approach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10" dirty="0">
                <a:latin typeface="Calibri"/>
                <a:cs typeface="Calibri"/>
              </a:rPr>
              <a:t>broadcasting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packets.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38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Broadcast</a:t>
            </a:r>
            <a:r>
              <a:rPr sz="4400" spc="-210" dirty="0"/>
              <a:t> </a:t>
            </a:r>
            <a:r>
              <a:rPr sz="4400" dirty="0"/>
              <a:t>Routing</a:t>
            </a:r>
            <a:r>
              <a:rPr sz="4400" spc="-204" dirty="0"/>
              <a:t> </a:t>
            </a:r>
            <a:r>
              <a:rPr sz="4400" spc="-10" dirty="0"/>
              <a:t>Algorithms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92" y="1720768"/>
            <a:ext cx="8087226" cy="43931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38" rIns="0" bIns="0" rtlCol="0">
            <a:spAutoFit/>
          </a:bodyPr>
          <a:lstStyle/>
          <a:p>
            <a:pPr marL="2777490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Flooding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7701280" cy="2613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most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obvious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popular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technique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 </a:t>
            </a:r>
            <a:r>
              <a:rPr sz="3200" dirty="0">
                <a:latin typeface="Calibri"/>
                <a:cs typeface="Calibri"/>
              </a:rPr>
              <a:t>achieving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broadcast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flooding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approach.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There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two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types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flooding: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b="1" spc="-10" dirty="0">
                <a:latin typeface="Calibri"/>
                <a:cs typeface="Calibri"/>
              </a:rPr>
              <a:t>Uncontrolled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Flooding</a:t>
            </a:r>
            <a:endParaRPr sz="2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5015" algn="l"/>
              </a:tabLst>
            </a:pPr>
            <a:r>
              <a:rPr sz="2800" b="1" dirty="0">
                <a:latin typeface="Calibri"/>
                <a:cs typeface="Calibri"/>
              </a:rPr>
              <a:t>Controlled</a:t>
            </a:r>
            <a:r>
              <a:rPr sz="2800" b="1" spc="-1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Flooding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38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Uncontrolled</a:t>
            </a:r>
            <a:r>
              <a:rPr sz="4400" spc="-225" dirty="0"/>
              <a:t> </a:t>
            </a:r>
            <a:r>
              <a:rPr sz="4400" spc="-10" dirty="0"/>
              <a:t>Flooding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8002270" cy="304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source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sends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copy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packet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neighbours.</a:t>
            </a:r>
            <a:endParaRPr sz="3200">
              <a:latin typeface="Calibri"/>
              <a:cs typeface="Calibri"/>
            </a:endParaRPr>
          </a:p>
          <a:p>
            <a:pPr marL="356870" marR="19939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When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receives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broadcast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packet,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it </a:t>
            </a:r>
            <a:r>
              <a:rPr sz="3200" spc="-10" dirty="0">
                <a:latin typeface="Calibri"/>
                <a:cs typeface="Calibri"/>
              </a:rPr>
              <a:t>duplicates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packet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forwards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its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neighbours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(except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neighbour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from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received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packet).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38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Uncontrolled</a:t>
            </a:r>
            <a:r>
              <a:rPr sz="4400" spc="-225" dirty="0"/>
              <a:t> </a:t>
            </a:r>
            <a:r>
              <a:rPr sz="4400" spc="-10" dirty="0"/>
              <a:t>Flooding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6244" y="1527124"/>
            <a:ext cx="7869555" cy="421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</a:tabLst>
            </a:pPr>
            <a:r>
              <a:rPr sz="3000" spc="-10" dirty="0">
                <a:latin typeface="Calibri"/>
                <a:cs typeface="Calibri"/>
              </a:rPr>
              <a:t>Problems:</a:t>
            </a:r>
            <a:endParaRPr sz="3000">
              <a:latin typeface="Calibri"/>
              <a:cs typeface="Calibri"/>
            </a:endParaRPr>
          </a:p>
          <a:p>
            <a:pPr marL="756285" marR="360045" lvl="1" indent="-287020">
              <a:lnSpc>
                <a:spcPts val="2500"/>
              </a:lnSpc>
              <a:spcBef>
                <a:spcPts val="61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graph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cycles,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copies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broadcast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packet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cycle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indefinitely.</a:t>
            </a:r>
            <a:endParaRPr sz="2600">
              <a:latin typeface="Calibri"/>
              <a:cs typeface="Calibri"/>
            </a:endParaRPr>
          </a:p>
          <a:p>
            <a:pPr marL="756285" marR="307340" lvl="1" indent="-287020">
              <a:lnSpc>
                <a:spcPct val="80000"/>
              </a:lnSpc>
              <a:spcBef>
                <a:spcPts val="64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When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connected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other </a:t>
            </a:r>
            <a:r>
              <a:rPr sz="2600" dirty="0">
                <a:latin typeface="Calibri"/>
                <a:cs typeface="Calibri"/>
              </a:rPr>
              <a:t>nodes,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create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forward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multiple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copies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broadcast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packet,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create </a:t>
            </a:r>
            <a:r>
              <a:rPr sz="2600" dirty="0">
                <a:latin typeface="Calibri"/>
                <a:cs typeface="Calibri"/>
              </a:rPr>
              <a:t>multiple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copies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itself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(at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nodes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more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neighbours),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on.</a:t>
            </a:r>
            <a:endParaRPr sz="260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This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broadcast</a:t>
            </a:r>
            <a:r>
              <a:rPr sz="2600" b="1" spc="-1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storm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resulting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endless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multiplication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broadcast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packets,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would </a:t>
            </a:r>
            <a:r>
              <a:rPr sz="2600" dirty="0">
                <a:latin typeface="Calibri"/>
                <a:cs typeface="Calibri"/>
              </a:rPr>
              <a:t>eventually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many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broadcast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packets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being </a:t>
            </a:r>
            <a:r>
              <a:rPr sz="2600" dirty="0">
                <a:latin typeface="Calibri"/>
                <a:cs typeface="Calibri"/>
              </a:rPr>
              <a:t>created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would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rendered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useless.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38" rIns="0" bIns="0" rtlCol="0">
            <a:spAutoFit/>
          </a:bodyPr>
          <a:lstStyle/>
          <a:p>
            <a:pPr marL="1500505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Controlled</a:t>
            </a:r>
            <a:r>
              <a:rPr sz="4400" spc="-175" dirty="0"/>
              <a:t> </a:t>
            </a:r>
            <a:r>
              <a:rPr sz="4400" spc="-10" dirty="0"/>
              <a:t>Flooding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6870" marR="822960" indent="-344805">
              <a:lnSpc>
                <a:spcPts val="2880"/>
              </a:lnSpc>
              <a:spcBef>
                <a:spcPts val="795"/>
              </a:spcBef>
              <a:buFont typeface="Arial MT"/>
              <a:buChar char="•"/>
              <a:tabLst>
                <a:tab pos="356870" algn="l"/>
              </a:tabLst>
            </a:pPr>
            <a:r>
              <a:rPr spc="-125" dirty="0"/>
              <a:t>To</a:t>
            </a:r>
            <a:r>
              <a:rPr spc="-45" dirty="0"/>
              <a:t> </a:t>
            </a:r>
            <a:r>
              <a:rPr dirty="0"/>
              <a:t>avoiding</a:t>
            </a:r>
            <a:r>
              <a:rPr spc="-150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spc="-10" dirty="0"/>
              <a:t>broadcast</a:t>
            </a:r>
            <a:r>
              <a:rPr spc="-105" dirty="0"/>
              <a:t> </a:t>
            </a:r>
            <a:r>
              <a:rPr dirty="0"/>
              <a:t>storm</a:t>
            </a:r>
            <a:r>
              <a:rPr spc="-105" dirty="0"/>
              <a:t> </a:t>
            </a:r>
            <a:r>
              <a:rPr dirty="0"/>
              <a:t>problem</a:t>
            </a:r>
            <a:r>
              <a:rPr spc="-130" dirty="0"/>
              <a:t> </a:t>
            </a:r>
            <a:r>
              <a:rPr spc="-20" dirty="0"/>
              <a:t>uses </a:t>
            </a:r>
            <a:r>
              <a:rPr spc="-10" dirty="0"/>
              <a:t>controlled</a:t>
            </a:r>
            <a:r>
              <a:rPr spc="-105" dirty="0"/>
              <a:t> </a:t>
            </a:r>
            <a:r>
              <a:rPr dirty="0"/>
              <a:t>flooding</a:t>
            </a:r>
            <a:r>
              <a:rPr spc="-60" dirty="0"/>
              <a:t> </a:t>
            </a:r>
            <a:r>
              <a:rPr spc="-10" dirty="0"/>
              <a:t>approach.</a:t>
            </a:r>
          </a:p>
          <a:p>
            <a:pPr marL="356870" marR="5080" indent="-344805">
              <a:lnSpc>
                <a:spcPct val="80000"/>
              </a:lnSpc>
              <a:spcBef>
                <a:spcPts val="75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6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judiciously</a:t>
            </a:r>
            <a:r>
              <a:rPr spc="-105" dirty="0"/>
              <a:t> </a:t>
            </a:r>
            <a:r>
              <a:rPr dirty="0"/>
              <a:t>choose</a:t>
            </a:r>
            <a:r>
              <a:rPr spc="-60" dirty="0"/>
              <a:t> </a:t>
            </a:r>
            <a:r>
              <a:rPr b="1" dirty="0">
                <a:latin typeface="Calibri"/>
                <a:cs typeface="Calibri"/>
              </a:rPr>
              <a:t>when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to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flood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a </a:t>
            </a:r>
            <a:r>
              <a:rPr b="1" dirty="0">
                <a:latin typeface="Calibri"/>
                <a:cs typeface="Calibri"/>
              </a:rPr>
              <a:t>packet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(e.g.,</a:t>
            </a:r>
            <a:r>
              <a:rPr spc="-50" dirty="0"/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it</a:t>
            </a:r>
            <a:r>
              <a:rPr b="1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has</a:t>
            </a:r>
            <a:r>
              <a:rPr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already</a:t>
            </a:r>
            <a:r>
              <a:rPr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received</a:t>
            </a:r>
            <a:r>
              <a:rPr b="1" i="1" spc="-25" dirty="0">
                <a:solidFill>
                  <a:srgbClr val="FF0000"/>
                </a:solidFill>
                <a:latin typeface="Calibri"/>
                <a:cs typeface="Calibri"/>
              </a:rPr>
              <a:t> and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flooded</a:t>
            </a:r>
            <a:r>
              <a:rPr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earlier</a:t>
            </a:r>
            <a:r>
              <a:rPr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copy</a:t>
            </a:r>
            <a:r>
              <a:rPr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b="1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spc="-10" dirty="0">
                <a:solidFill>
                  <a:srgbClr val="FF0000"/>
                </a:solidFill>
                <a:latin typeface="Calibri"/>
                <a:cs typeface="Calibri"/>
              </a:rPr>
              <a:t>packet</a:t>
            </a:r>
            <a:r>
              <a:rPr spc="-10" dirty="0"/>
              <a:t>)</a:t>
            </a:r>
            <a:r>
              <a:rPr spc="-25" dirty="0"/>
              <a:t> </a:t>
            </a:r>
            <a:r>
              <a:rPr b="1" dirty="0">
                <a:latin typeface="Calibri"/>
                <a:cs typeface="Calibri"/>
              </a:rPr>
              <a:t>when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not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to </a:t>
            </a:r>
            <a:r>
              <a:rPr b="1" dirty="0">
                <a:latin typeface="Calibri"/>
                <a:cs typeface="Calibri"/>
              </a:rPr>
              <a:t>flood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packet</a:t>
            </a:r>
            <a:r>
              <a:rPr spc="-10" dirty="0"/>
              <a:t>.</a:t>
            </a: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spc="-30" dirty="0"/>
              <a:t>Two</a:t>
            </a:r>
            <a:r>
              <a:rPr spc="-125" dirty="0"/>
              <a:t> </a:t>
            </a:r>
            <a:r>
              <a:rPr spc="-10" dirty="0"/>
              <a:t>approaches:</a:t>
            </a: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b="1" spc="-25" dirty="0">
                <a:latin typeface="Calibri"/>
                <a:cs typeface="Calibri"/>
              </a:rPr>
              <a:t>sequence-</a:t>
            </a:r>
            <a:r>
              <a:rPr b="1" spc="-10" dirty="0">
                <a:latin typeface="Calibri"/>
                <a:cs typeface="Calibri"/>
              </a:rPr>
              <a:t>number-</a:t>
            </a:r>
            <a:r>
              <a:rPr b="1" dirty="0">
                <a:latin typeface="Calibri"/>
                <a:cs typeface="Calibri"/>
              </a:rPr>
              <a:t>controlled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flooding</a:t>
            </a:r>
          </a:p>
          <a:p>
            <a:pPr marL="356870" marR="396240" indent="-344805">
              <a:lnSpc>
                <a:spcPts val="2880"/>
              </a:lnSpc>
              <a:spcBef>
                <a:spcPts val="700"/>
              </a:spcBef>
              <a:buFont typeface="Arial MT"/>
              <a:buChar char="•"/>
              <a:tabLst>
                <a:tab pos="356870" algn="l"/>
              </a:tabLst>
            </a:pPr>
            <a:r>
              <a:rPr b="1" spc="-10" dirty="0">
                <a:latin typeface="Calibri"/>
                <a:cs typeface="Calibri"/>
              </a:rPr>
              <a:t>reverse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path</a:t>
            </a:r>
            <a:r>
              <a:rPr b="1" spc="-9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forwarding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(RPF)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or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reverse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path </a:t>
            </a:r>
            <a:r>
              <a:rPr b="1" dirty="0">
                <a:latin typeface="Calibri"/>
                <a:cs typeface="Calibri"/>
              </a:rPr>
              <a:t>broadcast</a:t>
            </a:r>
            <a:r>
              <a:rPr b="1" spc="-13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(RPB)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38" rIns="0" bIns="0" rtlCol="0">
            <a:spAutoFit/>
          </a:bodyPr>
          <a:lstStyle/>
          <a:p>
            <a:pPr marL="1500505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Controlled</a:t>
            </a:r>
            <a:r>
              <a:rPr sz="4400" spc="-175" dirty="0"/>
              <a:t> </a:t>
            </a:r>
            <a:r>
              <a:rPr sz="4400" spc="-10" dirty="0"/>
              <a:t>Flooding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6244" y="1560652"/>
            <a:ext cx="7886700" cy="412305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6870" marR="5080" indent="-344805">
              <a:lnSpc>
                <a:spcPct val="90000"/>
              </a:lnSpc>
              <a:spcBef>
                <a:spcPts val="47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sequence-</a:t>
            </a:r>
            <a:r>
              <a:rPr sz="3200" b="1" spc="-20" dirty="0">
                <a:latin typeface="Calibri"/>
                <a:cs typeface="Calibri"/>
              </a:rPr>
              <a:t>number-</a:t>
            </a:r>
            <a:r>
              <a:rPr sz="3200" b="1" dirty="0">
                <a:latin typeface="Calibri"/>
                <a:cs typeface="Calibri"/>
              </a:rPr>
              <a:t>controlled</a:t>
            </a:r>
            <a:r>
              <a:rPr sz="3200" b="1" spc="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flooding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a </a:t>
            </a:r>
            <a:r>
              <a:rPr sz="3200" dirty="0">
                <a:latin typeface="Calibri"/>
                <a:cs typeface="Calibri"/>
              </a:rPr>
              <a:t>source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puts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address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(or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other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unique </a:t>
            </a:r>
            <a:r>
              <a:rPr sz="3200" dirty="0">
                <a:latin typeface="Calibri"/>
                <a:cs typeface="Calibri"/>
              </a:rPr>
              <a:t>identifier)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well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broadcast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sequence </a:t>
            </a:r>
            <a:r>
              <a:rPr sz="3200" b="1" dirty="0">
                <a:latin typeface="Calibri"/>
                <a:cs typeface="Calibri"/>
              </a:rPr>
              <a:t>number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broadcast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packet,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sends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packet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neighbours.</a:t>
            </a:r>
            <a:endParaRPr sz="3200">
              <a:latin typeface="Calibri"/>
              <a:cs typeface="Calibri"/>
            </a:endParaRPr>
          </a:p>
          <a:p>
            <a:pPr marL="356870" marR="828675" indent="-344805">
              <a:lnSpc>
                <a:spcPct val="9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Each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maintains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list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source </a:t>
            </a:r>
            <a:r>
              <a:rPr sz="3200" dirty="0">
                <a:latin typeface="Calibri"/>
                <a:cs typeface="Calibri"/>
              </a:rPr>
              <a:t>address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sequence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number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each </a:t>
            </a:r>
            <a:r>
              <a:rPr sz="3200" spc="-10" dirty="0">
                <a:latin typeface="Calibri"/>
                <a:cs typeface="Calibri"/>
              </a:rPr>
              <a:t>broadcast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packet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already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received, duplicated,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forwarded.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38" rIns="0" bIns="0" rtlCol="0">
            <a:spAutoFit/>
          </a:bodyPr>
          <a:lstStyle/>
          <a:p>
            <a:pPr marL="1500505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Controlled</a:t>
            </a:r>
            <a:r>
              <a:rPr sz="4400" spc="-175" dirty="0"/>
              <a:t> </a:t>
            </a:r>
            <a:r>
              <a:rPr sz="4400" spc="-10" dirty="0"/>
              <a:t>Flooding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7945120" cy="2951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When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receives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broadcast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packet,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it </a:t>
            </a:r>
            <a:r>
              <a:rPr sz="3200" dirty="0">
                <a:latin typeface="Calibri"/>
                <a:cs typeface="Calibri"/>
              </a:rPr>
              <a:t>first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checks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whether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packet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list.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If </a:t>
            </a:r>
            <a:r>
              <a:rPr sz="3200" dirty="0">
                <a:latin typeface="Calibri"/>
                <a:cs typeface="Calibri"/>
              </a:rPr>
              <a:t>so,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packet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dropped;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packet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is </a:t>
            </a:r>
            <a:r>
              <a:rPr sz="3200" spc="-10" dirty="0">
                <a:latin typeface="Calibri"/>
                <a:cs typeface="Calibri"/>
              </a:rPr>
              <a:t>duplicated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forwarded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node’s </a:t>
            </a:r>
            <a:r>
              <a:rPr sz="3200" dirty="0">
                <a:latin typeface="Calibri"/>
                <a:cs typeface="Calibri"/>
              </a:rPr>
              <a:t>neighbours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(except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packet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just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been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received).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38" rIns="0" bIns="0" rtlCol="0">
            <a:spAutoFit/>
          </a:bodyPr>
          <a:lstStyle/>
          <a:p>
            <a:pPr marL="1500505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Controlled</a:t>
            </a:r>
            <a:r>
              <a:rPr sz="4400" spc="-175" dirty="0"/>
              <a:t> </a:t>
            </a:r>
            <a:r>
              <a:rPr sz="4400" spc="-10" dirty="0"/>
              <a:t>Flooding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6244" y="1563700"/>
            <a:ext cx="8038465" cy="427926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6870" marR="5080" indent="-344805">
              <a:lnSpc>
                <a:spcPct val="90000"/>
              </a:lnSpc>
              <a:spcBef>
                <a:spcPts val="459"/>
              </a:spcBef>
              <a:buFont typeface="Arial MT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A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second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approach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controlled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flooding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is </a:t>
            </a:r>
            <a:r>
              <a:rPr sz="3000" dirty="0">
                <a:latin typeface="Calibri"/>
                <a:cs typeface="Calibri"/>
              </a:rPr>
              <a:t>known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reverse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path</a:t>
            </a:r>
            <a:r>
              <a:rPr sz="3000" b="1" spc="-7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forwarding</a:t>
            </a:r>
            <a:r>
              <a:rPr sz="3000" b="1" spc="-9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(RPF)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[Dalal </a:t>
            </a:r>
            <a:r>
              <a:rPr sz="3000" dirty="0">
                <a:latin typeface="Calibri"/>
                <a:cs typeface="Calibri"/>
              </a:rPr>
              <a:t>1978],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also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sometimes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referred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reverse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path </a:t>
            </a:r>
            <a:r>
              <a:rPr sz="3000" spc="-10" dirty="0">
                <a:latin typeface="Calibri"/>
                <a:cs typeface="Calibri"/>
              </a:rPr>
              <a:t>broadcast</a:t>
            </a:r>
            <a:r>
              <a:rPr sz="3000" spc="-1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(RPB).</a:t>
            </a:r>
            <a:endParaRPr sz="3000">
              <a:latin typeface="Calibri"/>
              <a:cs typeface="Calibri"/>
            </a:endParaRPr>
          </a:p>
          <a:p>
            <a:pPr marL="356870" marR="47625" indent="-344805">
              <a:lnSpc>
                <a:spcPct val="90000"/>
              </a:lnSpc>
              <a:spcBef>
                <a:spcPts val="720"/>
              </a:spcBef>
              <a:buFont typeface="Arial MT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When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router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receives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broadcast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packet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a </a:t>
            </a:r>
            <a:r>
              <a:rPr sz="3000" dirty="0">
                <a:latin typeface="Calibri"/>
                <a:cs typeface="Calibri"/>
              </a:rPr>
              <a:t>given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source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address,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transmits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packet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on </a:t>
            </a:r>
            <a:r>
              <a:rPr sz="3000" dirty="0">
                <a:latin typeface="Calibri"/>
                <a:cs typeface="Calibri"/>
              </a:rPr>
              <a:t>all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outgoing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links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(except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which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was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received)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only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if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packet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arrived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link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own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shortest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unicast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path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back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source.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38" rIns="0" bIns="0" rtlCol="0">
            <a:spAutoFit/>
          </a:bodyPr>
          <a:lstStyle/>
          <a:p>
            <a:pPr marL="1500505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Controlled</a:t>
            </a:r>
            <a:r>
              <a:rPr sz="4400" spc="-175" dirty="0"/>
              <a:t> </a:t>
            </a:r>
            <a:r>
              <a:rPr sz="4400" spc="-10" dirty="0"/>
              <a:t>Flooding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7870190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Otherwise,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router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simply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discards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incoming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packet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without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forwarding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any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outgoing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links.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Such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packet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be </a:t>
            </a:r>
            <a:r>
              <a:rPr sz="3200" dirty="0">
                <a:latin typeface="Calibri"/>
                <a:cs typeface="Calibri"/>
              </a:rPr>
              <a:t>dropped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because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router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knows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either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receive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already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received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copy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packet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link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own </a:t>
            </a:r>
            <a:r>
              <a:rPr sz="3200" dirty="0">
                <a:latin typeface="Calibri"/>
                <a:cs typeface="Calibri"/>
              </a:rPr>
              <a:t>shortest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path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back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sender.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38" rIns="0" bIns="0" rtlCol="0">
            <a:spAutoFit/>
          </a:bodyPr>
          <a:lstStyle/>
          <a:p>
            <a:pPr marL="1500505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Controlled</a:t>
            </a:r>
            <a:r>
              <a:rPr sz="4400" spc="-175" dirty="0"/>
              <a:t> </a:t>
            </a:r>
            <a:r>
              <a:rPr sz="4400" spc="-10" dirty="0"/>
              <a:t>Flooding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2430" y="1602422"/>
            <a:ext cx="6223740" cy="4671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716530" marR="5080" indent="-2458085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100" dirty="0"/>
              <a:t> </a:t>
            </a:r>
            <a:r>
              <a:rPr spc="-20" dirty="0"/>
              <a:t>Distance-Vector</a:t>
            </a:r>
            <a:r>
              <a:rPr spc="-70" dirty="0"/>
              <a:t> </a:t>
            </a:r>
            <a:r>
              <a:rPr dirty="0"/>
              <a:t>(DV)</a:t>
            </a:r>
            <a:r>
              <a:rPr spc="-60" dirty="0"/>
              <a:t> </a:t>
            </a:r>
            <a:r>
              <a:rPr spc="-10" dirty="0"/>
              <a:t>Routing Algorithm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6870" marR="375920" indent="-344805">
              <a:lnSpc>
                <a:spcPts val="2880"/>
              </a:lnSpc>
              <a:spcBef>
                <a:spcPts val="79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/>
              <a:t>The</a:t>
            </a:r>
            <a:r>
              <a:rPr spc="-65" dirty="0"/>
              <a:t> </a:t>
            </a:r>
            <a:r>
              <a:rPr b="1" dirty="0">
                <a:latin typeface="Calibri"/>
                <a:cs typeface="Calibri"/>
              </a:rPr>
              <a:t>distance</a:t>
            </a:r>
            <a:r>
              <a:rPr b="1" spc="-9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vector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dirty="0"/>
              <a:t>(</a:t>
            </a:r>
            <a:r>
              <a:rPr b="1" dirty="0">
                <a:latin typeface="Calibri"/>
                <a:cs typeface="Calibri"/>
              </a:rPr>
              <a:t>DV</a:t>
            </a:r>
            <a:r>
              <a:rPr dirty="0"/>
              <a:t>)</a:t>
            </a:r>
            <a:r>
              <a:rPr spc="-60" dirty="0"/>
              <a:t> </a:t>
            </a:r>
            <a:r>
              <a:rPr dirty="0"/>
              <a:t>algorithm</a:t>
            </a:r>
            <a:r>
              <a:rPr spc="-110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-10" dirty="0"/>
              <a:t>iterative, </a:t>
            </a:r>
            <a:r>
              <a:rPr spc="-20" dirty="0"/>
              <a:t>asynchronous,</a:t>
            </a:r>
            <a:r>
              <a:rPr spc="-5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distributed.</a:t>
            </a:r>
          </a:p>
          <a:p>
            <a:pPr marL="756285" marR="68580" lvl="1" indent="-287020">
              <a:lnSpc>
                <a:spcPct val="8000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distributed</a:t>
            </a:r>
            <a:r>
              <a:rPr sz="2600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receives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some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directly</a:t>
            </a:r>
            <a:r>
              <a:rPr sz="2600" i="1" spc="-55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attached </a:t>
            </a:r>
            <a:r>
              <a:rPr sz="2600" spc="-10" dirty="0">
                <a:latin typeface="Calibri"/>
                <a:cs typeface="Calibri"/>
              </a:rPr>
              <a:t>neighbours,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performs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calculation,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then </a:t>
            </a:r>
            <a:r>
              <a:rPr sz="2600" spc="-10" dirty="0">
                <a:latin typeface="Calibri"/>
                <a:cs typeface="Calibri"/>
              </a:rPr>
              <a:t>distributes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calculation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back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its </a:t>
            </a:r>
            <a:r>
              <a:rPr sz="2600" spc="-10" dirty="0">
                <a:latin typeface="Calibri"/>
                <a:cs typeface="Calibri"/>
              </a:rPr>
              <a:t>neighbours.</a:t>
            </a:r>
            <a:endParaRPr sz="2600">
              <a:latin typeface="Calibri"/>
              <a:cs typeface="Calibri"/>
            </a:endParaRPr>
          </a:p>
          <a:p>
            <a:pPr marL="756285" marR="5080" lvl="1" indent="-287020">
              <a:lnSpc>
                <a:spcPts val="25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iterative</a:t>
            </a:r>
            <a:r>
              <a:rPr sz="2600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continues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until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no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exchanged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neighbours.</a:t>
            </a:r>
            <a:endParaRPr sz="2600">
              <a:latin typeface="Calibri"/>
              <a:cs typeface="Calibri"/>
            </a:endParaRPr>
          </a:p>
          <a:p>
            <a:pPr marL="756285" marR="415925" lvl="1" indent="-287020">
              <a:lnSpc>
                <a:spcPts val="2500"/>
              </a:lnSpc>
              <a:spcBef>
                <a:spcPts val="620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algorithm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asynchronous</a:t>
            </a:r>
            <a:r>
              <a:rPr sz="2600" i="1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not </a:t>
            </a:r>
            <a:r>
              <a:rPr sz="2600" dirty="0">
                <a:latin typeface="Calibri"/>
                <a:cs typeface="Calibri"/>
              </a:rPr>
              <a:t>require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nodes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lockstep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other.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716530" marR="5080" indent="-2458085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100" dirty="0"/>
              <a:t> </a:t>
            </a:r>
            <a:r>
              <a:rPr spc="-20" dirty="0"/>
              <a:t>Distance-Vector</a:t>
            </a:r>
            <a:r>
              <a:rPr spc="-70" dirty="0"/>
              <a:t> </a:t>
            </a:r>
            <a:r>
              <a:rPr dirty="0"/>
              <a:t>(DV)</a:t>
            </a:r>
            <a:r>
              <a:rPr spc="-60" dirty="0"/>
              <a:t> </a:t>
            </a:r>
            <a:r>
              <a:rPr spc="-10" dirty="0"/>
              <a:t>Routing 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144" y="1560652"/>
            <a:ext cx="8039100" cy="42202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94970" marR="520700" indent="-344805">
              <a:lnSpc>
                <a:spcPct val="90000"/>
              </a:lnSpc>
              <a:spcBef>
                <a:spcPts val="475"/>
              </a:spcBef>
              <a:buFont typeface="Arial MT"/>
              <a:buChar char="•"/>
              <a:tabLst>
                <a:tab pos="394970" algn="l"/>
              </a:tabLst>
            </a:pPr>
            <a:r>
              <a:rPr sz="3200" dirty="0">
                <a:latin typeface="Calibri"/>
                <a:cs typeface="Calibri"/>
              </a:rPr>
              <a:t>Let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dx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Calibri"/>
                <a:cs typeface="Calibri"/>
              </a:rPr>
              <a:t>y</a:t>
            </a:r>
            <a:r>
              <a:rPr sz="3200" dirty="0">
                <a:latin typeface="Calibri"/>
                <a:cs typeface="Calibri"/>
              </a:rPr>
              <a:t>)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cost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least-</a:t>
            </a:r>
            <a:r>
              <a:rPr sz="3200" dirty="0">
                <a:latin typeface="Calibri"/>
                <a:cs typeface="Calibri"/>
              </a:rPr>
              <a:t>cost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path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x</a:t>
            </a:r>
            <a:r>
              <a:rPr sz="3200" i="1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y</a:t>
            </a:r>
            <a:r>
              <a:rPr sz="3200" dirty="0">
                <a:latin typeface="Calibri"/>
                <a:cs typeface="Calibri"/>
              </a:rPr>
              <a:t>.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least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costs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related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celebrated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Bellman-Ford </a:t>
            </a:r>
            <a:r>
              <a:rPr sz="3200" dirty="0">
                <a:latin typeface="Calibri"/>
                <a:cs typeface="Calibri"/>
              </a:rPr>
              <a:t>equation,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namely,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90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394970" marR="43180" indent="-344805">
              <a:lnSpc>
                <a:spcPct val="90000"/>
              </a:lnSpc>
              <a:buFont typeface="Arial MT"/>
              <a:buChar char="•"/>
              <a:tabLst>
                <a:tab pos="394970" algn="l"/>
              </a:tabLst>
            </a:pPr>
            <a:r>
              <a:rPr sz="3200" dirty="0">
                <a:latin typeface="Calibri"/>
                <a:cs typeface="Calibri"/>
              </a:rPr>
              <a:t>where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min</a:t>
            </a:r>
            <a:r>
              <a:rPr sz="3150" i="1" baseline="-19841" dirty="0">
                <a:latin typeface="Calibri"/>
                <a:cs typeface="Calibri"/>
              </a:rPr>
              <a:t>v</a:t>
            </a:r>
            <a:r>
              <a:rPr sz="3150" i="1" spc="300" baseline="-19841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equation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taken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over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i="1" spc="-35" dirty="0">
                <a:latin typeface="Calibri"/>
                <a:cs typeface="Calibri"/>
              </a:rPr>
              <a:t>x</a:t>
            </a:r>
            <a:r>
              <a:rPr sz="3200" spc="-35" dirty="0">
                <a:latin typeface="Calibri"/>
                <a:cs typeface="Calibri"/>
              </a:rPr>
              <a:t>’s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neighbours.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After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traveling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x</a:t>
            </a:r>
            <a:r>
              <a:rPr sz="3200" i="1" spc="-8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i="1" dirty="0">
                <a:latin typeface="Calibri"/>
                <a:cs typeface="Calibri"/>
              </a:rPr>
              <a:t>v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take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least-</a:t>
            </a:r>
            <a:r>
              <a:rPr sz="3200" dirty="0">
                <a:latin typeface="Calibri"/>
                <a:cs typeface="Calibri"/>
              </a:rPr>
              <a:t>cost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path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v</a:t>
            </a:r>
            <a:r>
              <a:rPr sz="3200" i="1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i="1" dirty="0">
                <a:latin typeface="Calibri"/>
                <a:cs typeface="Calibri"/>
              </a:rPr>
              <a:t>y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path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cost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c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i="1" dirty="0">
                <a:latin typeface="Calibri"/>
                <a:cs typeface="Calibri"/>
              </a:rPr>
              <a:t>x,v</a:t>
            </a:r>
            <a:r>
              <a:rPr sz="3200" dirty="0">
                <a:latin typeface="Calibri"/>
                <a:cs typeface="Calibri"/>
              </a:rPr>
              <a:t>)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+</a:t>
            </a:r>
            <a:r>
              <a:rPr sz="3200" i="1" spc="-50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d</a:t>
            </a:r>
            <a:r>
              <a:rPr sz="3150" i="1" spc="-15" baseline="-19841" dirty="0">
                <a:latin typeface="Calibri"/>
                <a:cs typeface="Calibri"/>
              </a:rPr>
              <a:t>v</a:t>
            </a:r>
            <a:r>
              <a:rPr sz="3200" spc="-10" dirty="0">
                <a:latin typeface="Calibri"/>
                <a:cs typeface="Calibri"/>
              </a:rPr>
              <a:t>(</a:t>
            </a:r>
            <a:r>
              <a:rPr sz="3200" i="1" spc="-10" dirty="0">
                <a:latin typeface="Calibri"/>
                <a:cs typeface="Calibri"/>
              </a:rPr>
              <a:t>y</a:t>
            </a:r>
            <a:r>
              <a:rPr sz="3200" spc="-10" dirty="0">
                <a:latin typeface="Calibri"/>
                <a:cs typeface="Calibri"/>
              </a:rPr>
              <a:t>).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3095" y="3605463"/>
            <a:ext cx="3577408" cy="3368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716530" marR="5080" indent="-2458085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100" dirty="0"/>
              <a:t> </a:t>
            </a:r>
            <a:r>
              <a:rPr spc="-20" dirty="0"/>
              <a:t>Distance-Vector</a:t>
            </a:r>
            <a:r>
              <a:rPr spc="-70" dirty="0"/>
              <a:t> </a:t>
            </a:r>
            <a:r>
              <a:rPr dirty="0"/>
              <a:t>(DV)</a:t>
            </a:r>
            <a:r>
              <a:rPr spc="-60" dirty="0"/>
              <a:t> </a:t>
            </a:r>
            <a:r>
              <a:rPr spc="-10" dirty="0"/>
              <a:t>Routing 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299" y="1843016"/>
            <a:ext cx="8339749" cy="38728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8144" y="3366008"/>
            <a:ext cx="7573009" cy="2027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4970" marR="435609" indent="-34480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9497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source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u</a:t>
            </a:r>
            <a:r>
              <a:rPr sz="3200" i="1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three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neighbours: </a:t>
            </a:r>
            <a:r>
              <a:rPr sz="3200" dirty="0">
                <a:latin typeface="Calibri"/>
                <a:cs typeface="Calibri"/>
              </a:rPr>
              <a:t>nodes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v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x,</a:t>
            </a:r>
            <a:r>
              <a:rPr sz="3200" i="1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Calibri"/>
                <a:cs typeface="Calibri"/>
              </a:rPr>
              <a:t>w</a:t>
            </a:r>
            <a:r>
              <a:rPr sz="3200" spc="-25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94970" indent="-34417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94970" algn="l"/>
              </a:tabLst>
            </a:pPr>
            <a:r>
              <a:rPr sz="2800" i="1" dirty="0">
                <a:latin typeface="Calibri"/>
                <a:cs typeface="Calibri"/>
              </a:rPr>
              <a:t>d</a:t>
            </a:r>
            <a:r>
              <a:rPr sz="2775" i="1" baseline="-19519" dirty="0">
                <a:latin typeface="Calibri"/>
                <a:cs typeface="Calibri"/>
              </a:rPr>
              <a:t>u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z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min{</a:t>
            </a:r>
            <a:r>
              <a:rPr sz="2800" i="1" dirty="0">
                <a:latin typeface="Calibri"/>
                <a:cs typeface="Calibri"/>
              </a:rPr>
              <a:t>c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u,v</a:t>
            </a:r>
            <a:r>
              <a:rPr sz="2800" dirty="0">
                <a:latin typeface="Calibri"/>
                <a:cs typeface="Calibri"/>
              </a:rPr>
              <a:t>)+</a:t>
            </a:r>
            <a:r>
              <a:rPr sz="2800" i="1" dirty="0">
                <a:latin typeface="Calibri"/>
                <a:cs typeface="Calibri"/>
              </a:rPr>
              <a:t>d</a:t>
            </a:r>
            <a:r>
              <a:rPr sz="2775" i="1" baseline="-19519" dirty="0">
                <a:latin typeface="Calibri"/>
                <a:cs typeface="Calibri"/>
              </a:rPr>
              <a:t>v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z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u,x</a:t>
            </a:r>
            <a:r>
              <a:rPr sz="2800" dirty="0">
                <a:latin typeface="Calibri"/>
                <a:cs typeface="Calibri"/>
              </a:rPr>
              <a:t>)+</a:t>
            </a:r>
            <a:r>
              <a:rPr sz="2800" i="1" dirty="0">
                <a:latin typeface="Calibri"/>
                <a:cs typeface="Calibri"/>
              </a:rPr>
              <a:t>d</a:t>
            </a:r>
            <a:r>
              <a:rPr sz="2775" i="1" baseline="-19519" dirty="0">
                <a:latin typeface="Calibri"/>
                <a:cs typeface="Calibri"/>
              </a:rPr>
              <a:t>x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z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i="1" spc="-10" dirty="0">
                <a:latin typeface="Calibri"/>
                <a:cs typeface="Calibri"/>
              </a:rPr>
              <a:t>u,w</a:t>
            </a:r>
            <a:r>
              <a:rPr sz="2800" spc="-10" dirty="0">
                <a:latin typeface="Calibri"/>
                <a:cs typeface="Calibri"/>
              </a:rPr>
              <a:t>)+</a:t>
            </a:r>
            <a:r>
              <a:rPr sz="2800" i="1" spc="-10" dirty="0">
                <a:latin typeface="Calibri"/>
                <a:cs typeface="Calibri"/>
              </a:rPr>
              <a:t>d</a:t>
            </a:r>
            <a:r>
              <a:rPr sz="2775" i="1" spc="-15" baseline="-19519" dirty="0">
                <a:latin typeface="Calibri"/>
                <a:cs typeface="Calibri"/>
              </a:rPr>
              <a:t>w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i="1" spc="-10" dirty="0">
                <a:latin typeface="Calibri"/>
                <a:cs typeface="Calibri"/>
              </a:rPr>
              <a:t>z</a:t>
            </a:r>
            <a:r>
              <a:rPr sz="2800" spc="-10" dirty="0">
                <a:latin typeface="Calibri"/>
                <a:cs typeface="Calibri"/>
              </a:rPr>
              <a:t>)}</a:t>
            </a:r>
            <a:endParaRPr sz="2800">
              <a:latin typeface="Calibri"/>
              <a:cs typeface="Calibri"/>
            </a:endParaRPr>
          </a:p>
          <a:p>
            <a:pPr marL="394970" indent="-34417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94970" algn="l"/>
              </a:tabLst>
            </a:pPr>
            <a:r>
              <a:rPr sz="2800" i="1" dirty="0">
                <a:latin typeface="Calibri"/>
                <a:cs typeface="Calibri"/>
              </a:rPr>
              <a:t>d</a:t>
            </a:r>
            <a:r>
              <a:rPr sz="2775" i="1" baseline="-19519" dirty="0">
                <a:latin typeface="Calibri"/>
                <a:cs typeface="Calibri"/>
              </a:rPr>
              <a:t>u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i="1" dirty="0">
                <a:latin typeface="Calibri"/>
                <a:cs typeface="Calibri"/>
              </a:rPr>
              <a:t>z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min{2 +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3}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4,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381000"/>
            <a:ext cx="4940554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532" y="455666"/>
            <a:ext cx="8586632" cy="54399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716530" marR="5080" indent="-2458085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100" dirty="0"/>
              <a:t> </a:t>
            </a:r>
            <a:r>
              <a:rPr spc="-20" dirty="0"/>
              <a:t>Distance-Vector</a:t>
            </a:r>
            <a:r>
              <a:rPr spc="-70" dirty="0"/>
              <a:t> </a:t>
            </a:r>
            <a:r>
              <a:rPr dirty="0"/>
              <a:t>(DV)</a:t>
            </a:r>
            <a:r>
              <a:rPr spc="-60" dirty="0"/>
              <a:t> </a:t>
            </a:r>
            <a:r>
              <a:rPr spc="-10" dirty="0"/>
              <a:t>Routing 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666" y="4282848"/>
            <a:ext cx="6825290" cy="11892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0670" y="2124388"/>
            <a:ext cx="3366208" cy="144026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F309B-B053-ABF6-E1E3-BC424AF51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244" y="381000"/>
            <a:ext cx="7808773" cy="762000"/>
          </a:xfrm>
        </p:spPr>
        <p:txBody>
          <a:bodyPr/>
          <a:lstStyle/>
          <a:p>
            <a:r>
              <a:rPr lang="en-US" sz="4400" dirty="0"/>
              <a:t>Link-state routing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658C3-CEC5-6264-1E7F-C6F2248F5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371600"/>
            <a:ext cx="7948295" cy="47244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Link-state routing is a dynamic routing protocol where each router creates a complete map of the network by exchanging its local link information with all other routers. 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Routers flood </a:t>
            </a:r>
            <a:r>
              <a:rPr lang="en-US" sz="2800" dirty="0">
                <a:hlinkClick r:id="rId2"/>
              </a:rPr>
              <a:t>Link State Advertisements (LSAs)</a:t>
            </a:r>
            <a:r>
              <a:rPr lang="en-US" sz="2800" dirty="0"/>
              <a:t> to build a </a:t>
            </a:r>
            <a:r>
              <a:rPr lang="en-US" sz="2800" dirty="0">
                <a:hlinkClick r:id="rId3"/>
              </a:rPr>
              <a:t>link-state database (LSDB)</a:t>
            </a:r>
            <a:r>
              <a:rPr lang="en-US" sz="2800" dirty="0"/>
              <a:t>. 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Each router then independently uses the LSDB to run an algorithm, typically </a:t>
            </a:r>
            <a:r>
              <a:rPr lang="en-US" sz="2800" dirty="0">
                <a:hlinkClick r:id="rId4"/>
              </a:rPr>
              <a:t>Dijkstra's algorithm</a:t>
            </a:r>
            <a:r>
              <a:rPr lang="en-US" sz="2800" dirty="0"/>
              <a:t>, to calculate the shortest path to all other destinations</a:t>
            </a:r>
          </a:p>
        </p:txBody>
      </p:sp>
    </p:spTree>
    <p:extLst>
      <p:ext uri="{BB962C8B-B14F-4D97-AF65-F5344CB8AC3E}">
        <p14:creationId xmlns:p14="http://schemas.microsoft.com/office/powerpoint/2010/main" val="2760116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751DF-61A8-17B8-BEA7-4B444A384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244" y="152401"/>
            <a:ext cx="7546035" cy="615553"/>
          </a:xfrm>
        </p:spPr>
        <p:txBody>
          <a:bodyPr/>
          <a:lstStyle/>
          <a:p>
            <a:r>
              <a:rPr lang="en-US" b="0" dirty="0"/>
              <a:t>How it works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038FB-ED88-B135-E6AB-11D9BE5E5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914401"/>
            <a:ext cx="7948295" cy="6432530"/>
          </a:xfrm>
        </p:spPr>
        <p:txBody>
          <a:bodyPr/>
          <a:lstStyle/>
          <a:p>
            <a:r>
              <a:rPr lang="en-US" sz="2800" b="1" dirty="0"/>
              <a:t>Neighbor Discovery:</a:t>
            </a:r>
            <a:r>
              <a:rPr lang="en-US" sz="2800" dirty="0"/>
              <a:t> </a:t>
            </a:r>
          </a:p>
          <a:p>
            <a:r>
              <a:rPr lang="en-US" sz="2800" dirty="0"/>
              <a:t>Routers use "hello" packets to discover directly connected neighbors and their associated costs. </a:t>
            </a:r>
          </a:p>
          <a:p>
            <a:r>
              <a:rPr lang="en-US" sz="2800" b="1" dirty="0"/>
              <a:t>LSA Creation:</a:t>
            </a:r>
            <a:r>
              <a:rPr lang="en-US" sz="2800" dirty="0"/>
              <a:t> </a:t>
            </a:r>
          </a:p>
          <a:p>
            <a:r>
              <a:rPr lang="en-US" sz="2800" dirty="0"/>
              <a:t>Each router creates a Link State Advertisement (LSA) containing information about its neighbors, the cost of the links, and a sequence number to identify the most recent packet. </a:t>
            </a:r>
          </a:p>
          <a:p>
            <a:r>
              <a:rPr lang="en-US" sz="2800" b="1" dirty="0"/>
              <a:t>LSA Flooding:</a:t>
            </a:r>
            <a:r>
              <a:rPr lang="en-US" sz="2800" dirty="0"/>
              <a:t> </a:t>
            </a:r>
          </a:p>
          <a:p>
            <a:r>
              <a:rPr lang="en-US" sz="2800" dirty="0"/>
              <a:t>LSAs are flooded throughout the network, meaning each router sends its LSA to all other routers, ensuring every router has a copy of the same network topology data. </a:t>
            </a:r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512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3B719-EF66-1EB3-25DF-EC44CADD0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762000"/>
            <a:ext cx="7948295" cy="5562600"/>
          </a:xfrm>
        </p:spPr>
        <p:txBody>
          <a:bodyPr/>
          <a:lstStyle/>
          <a:p>
            <a:r>
              <a:rPr lang="en-US" sz="2800" b="1" dirty="0"/>
              <a:t>LSDB Construction:</a:t>
            </a:r>
            <a:r>
              <a:rPr lang="en-US" sz="2800" dirty="0"/>
              <a:t> </a:t>
            </a:r>
          </a:p>
          <a:p>
            <a:r>
              <a:rPr lang="en-US" sz="2800" dirty="0"/>
              <a:t>Routers use the received LSAs to build and maintain a Link-State Database (LSDB), which is essentially a complete map of the network.</a:t>
            </a:r>
            <a:endParaRPr lang="en-US" sz="2800" b="1" dirty="0"/>
          </a:p>
          <a:p>
            <a:r>
              <a:rPr lang="en-US" sz="2800" b="1" dirty="0"/>
              <a:t>Shortest Path Calculation:</a:t>
            </a:r>
            <a:r>
              <a:rPr lang="en-US" sz="2800" dirty="0"/>
              <a:t> </a:t>
            </a:r>
          </a:p>
          <a:p>
            <a:r>
              <a:rPr lang="en-US" sz="2800" dirty="0"/>
              <a:t>Each router independently runs Dijkstra's algorithm on its LSDB to calculate the shortest path to every other router.</a:t>
            </a:r>
          </a:p>
          <a:p>
            <a:r>
              <a:rPr lang="en-US" sz="2800" b="1" dirty="0"/>
              <a:t>Routing Table Update:</a:t>
            </a:r>
            <a:r>
              <a:rPr lang="en-US" sz="2800" dirty="0"/>
              <a:t> </a:t>
            </a:r>
          </a:p>
          <a:p>
            <a:r>
              <a:rPr lang="en-US" sz="2800" dirty="0"/>
              <a:t>The results of the Dijkstra algorithm are used to populate the routing table, directing traffic along the most efficient paths.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7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73397" y="3010611"/>
            <a:ext cx="100076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5" dirty="0">
                <a:latin typeface="Calibri"/>
                <a:cs typeface="Calibri"/>
              </a:rPr>
              <a:t>END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1211</Words>
  <Application>Microsoft Office PowerPoint</Application>
  <PresentationFormat>On-screen Show (4:3)</PresentationFormat>
  <Paragraphs>78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MT</vt:lpstr>
      <vt:lpstr>Calibri</vt:lpstr>
      <vt:lpstr>Wingdings</vt:lpstr>
      <vt:lpstr>Office Theme</vt:lpstr>
      <vt:lpstr>Routing Protocols</vt:lpstr>
      <vt:lpstr>Routing protocols</vt:lpstr>
      <vt:lpstr>Broadcast and Multicast Routing</vt:lpstr>
      <vt:lpstr>Broadcast Routing Algorithms</vt:lpstr>
      <vt:lpstr>Broadcast Routing Algorithms</vt:lpstr>
      <vt:lpstr>Flooding</vt:lpstr>
      <vt:lpstr>Uncontrolled Flooding</vt:lpstr>
      <vt:lpstr>Uncontrolled Flooding</vt:lpstr>
      <vt:lpstr>Controlled Flooding</vt:lpstr>
      <vt:lpstr>Controlled Flooding</vt:lpstr>
      <vt:lpstr>Controlled Flooding</vt:lpstr>
      <vt:lpstr>Controlled Flooding</vt:lpstr>
      <vt:lpstr>Controlled Flooding</vt:lpstr>
      <vt:lpstr>Controlled Flooding</vt:lpstr>
      <vt:lpstr>The Distance-Vector (DV) Routing Algorithm</vt:lpstr>
      <vt:lpstr>The Distance-Vector (DV) Routing Algorithm</vt:lpstr>
      <vt:lpstr>The Distance-Vector (DV) Routing Algorithm</vt:lpstr>
      <vt:lpstr>PowerPoint Presentation</vt:lpstr>
      <vt:lpstr>PowerPoint Presentation</vt:lpstr>
      <vt:lpstr>The Distance-Vector (DV) Routing Algorithm</vt:lpstr>
      <vt:lpstr>Link-state routing</vt:lpstr>
      <vt:lpstr>How it works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shamim</dc:creator>
  <cp:lastModifiedBy>ASUS</cp:lastModifiedBy>
  <cp:revision>6</cp:revision>
  <dcterms:created xsi:type="dcterms:W3CDTF">2025-05-05T04:54:57Z</dcterms:created>
  <dcterms:modified xsi:type="dcterms:W3CDTF">2025-10-14T16:34:15Z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2014-08-29T00:00:00Z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2025-05-05T00:00:00Z</vt:filetime>
  </property>
  <property fmtid="{D5CDD505-2E9C-101B-9397-08002B2CF9AE}" pid="5" name="Producer">
    <vt:lpwstr>Microsoft® PowerPoint® 2010</vt:lpwstr>
  </property>
</Properties>
</file>