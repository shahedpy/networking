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64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54F46-E534-9607-E7BB-CB42AADB75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61F924-59C4-E7C8-E528-AC3CB7AA60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4747D3-F85E-433E-0DCF-70CFA26847E3}"/>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5" name="Footer Placeholder 4">
            <a:extLst>
              <a:ext uri="{FF2B5EF4-FFF2-40B4-BE49-F238E27FC236}">
                <a16:creationId xmlns:a16="http://schemas.microsoft.com/office/drawing/2014/main" id="{9E7EBEAB-5619-6C79-31CE-9AB657166C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E026F-6BC7-F9E1-649B-9C253B6D6C08}"/>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3291901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BF8FF-82DA-A5AE-8C89-91BF7F498D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D08D5-2AFA-E50B-4408-6145CB45AD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BDD856-6E1C-7827-7771-91D94C222237}"/>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5" name="Footer Placeholder 4">
            <a:extLst>
              <a:ext uri="{FF2B5EF4-FFF2-40B4-BE49-F238E27FC236}">
                <a16:creationId xmlns:a16="http://schemas.microsoft.com/office/drawing/2014/main" id="{C043CD21-52E2-A1CE-EA84-78CCFE2BB2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8926B-5EBE-EC3B-BB0B-2901A182AD17}"/>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3941718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94E7-6EE7-DA3E-D9B5-859E1CC4B0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E9BE29-1AAB-149F-752B-3B7C50D334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65A43F-6792-A983-6C3E-0927108BD8C7}"/>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5" name="Footer Placeholder 4">
            <a:extLst>
              <a:ext uri="{FF2B5EF4-FFF2-40B4-BE49-F238E27FC236}">
                <a16:creationId xmlns:a16="http://schemas.microsoft.com/office/drawing/2014/main" id="{514C5CC4-3AC3-BAB6-6C1E-127F42FCC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D509C2-5A59-F7D6-171C-9B63D1821DE5}"/>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1048257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A3545-463C-F84D-6DDA-06C1E1771E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285BCE-702F-2DB4-CF94-BE89BC9DB4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4BABBA-E96A-332E-AED4-84C32798BD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20B656-D5EE-DEA6-4255-F505457EA271}"/>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6" name="Footer Placeholder 5">
            <a:extLst>
              <a:ext uri="{FF2B5EF4-FFF2-40B4-BE49-F238E27FC236}">
                <a16:creationId xmlns:a16="http://schemas.microsoft.com/office/drawing/2014/main" id="{11EFB938-3508-93AE-66F2-08152FF155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6A0148-1F56-9C47-53B6-FB8370C907D9}"/>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1618140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B9B9A-3B19-7E8B-2A72-E4A2061DA5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7B0529-83A1-E367-2F1B-B367BD8C3A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B0F5BE-4A91-8814-1025-0B61B50665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053F86-294D-86C7-7F4C-A2951F7582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B54886-EFE2-ACF3-8CE5-CC1FB0DEF7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7A0FDF-8404-F8CB-EC2B-DA4225FB3A1C}"/>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8" name="Footer Placeholder 7">
            <a:extLst>
              <a:ext uri="{FF2B5EF4-FFF2-40B4-BE49-F238E27FC236}">
                <a16:creationId xmlns:a16="http://schemas.microsoft.com/office/drawing/2014/main" id="{BB96911D-6776-AF17-73C6-E49D759167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CEE7DD-9D33-5A26-3279-93F3D0341D46}"/>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2427061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14C32-327F-8C4E-3A96-A78AC24C88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1A25A7-8142-4687-5068-CD21262F4FD0}"/>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4" name="Footer Placeholder 3">
            <a:extLst>
              <a:ext uri="{FF2B5EF4-FFF2-40B4-BE49-F238E27FC236}">
                <a16:creationId xmlns:a16="http://schemas.microsoft.com/office/drawing/2014/main" id="{ACCAEA44-B34C-BA48-FCCF-691E7DCE36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295121-C931-ED2B-9845-8CFC580FE916}"/>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745294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06FB5F-5AC0-BC06-DB24-625F63535DEA}"/>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3" name="Footer Placeholder 2">
            <a:extLst>
              <a:ext uri="{FF2B5EF4-FFF2-40B4-BE49-F238E27FC236}">
                <a16:creationId xmlns:a16="http://schemas.microsoft.com/office/drawing/2014/main" id="{1C4C3BD9-5932-A41E-53E0-442DFC8E23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82B3C6-D68B-D667-6D12-C54D1995A78C}"/>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3264566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9F792-63F1-476B-2E23-4714F90A15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534BCA-D557-5819-B328-308163C1E3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9B710C-25B2-EAA7-67B2-B5C653A331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936804-AF68-2E86-BA42-74DB0B7DDCEF}"/>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6" name="Footer Placeholder 5">
            <a:extLst>
              <a:ext uri="{FF2B5EF4-FFF2-40B4-BE49-F238E27FC236}">
                <a16:creationId xmlns:a16="http://schemas.microsoft.com/office/drawing/2014/main" id="{A080EE54-E0B4-D403-0B6A-24F1097519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D9070E-0812-E778-E470-EF75BC25308C}"/>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1783906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C6DB1-DA17-2813-3115-87E73E0421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C86BDF-5C23-F6B1-4A7F-ADADBE2D4A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9FA370-6897-628C-C82F-9B5452922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08DB69-943B-BE8E-CC38-9D1629AED1F2}"/>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6" name="Footer Placeholder 5">
            <a:extLst>
              <a:ext uri="{FF2B5EF4-FFF2-40B4-BE49-F238E27FC236}">
                <a16:creationId xmlns:a16="http://schemas.microsoft.com/office/drawing/2014/main" id="{C77CFFF4-2F12-4D7E-E378-044C3932B3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5EC480-7545-66F2-7C96-9B08B3D88270}"/>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4015872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75860-F543-0A24-6CC1-7CB53D76CF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D5DB5-AB1F-715B-60F0-73AD9BE7CF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5D79DF-3683-EA09-8FA8-634D507F6761}"/>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5" name="Footer Placeholder 4">
            <a:extLst>
              <a:ext uri="{FF2B5EF4-FFF2-40B4-BE49-F238E27FC236}">
                <a16:creationId xmlns:a16="http://schemas.microsoft.com/office/drawing/2014/main" id="{327DDD5A-4B63-48B1-3649-E278DB2181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7349B6-7251-2C94-22D7-B7F52ED1AE2B}"/>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3305644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64CB1F-52C3-9129-4A82-E14BCA016A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1A003D-2BAD-0452-7125-35ABB48224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9ACC09-E416-DFE3-FADB-19319930B321}"/>
              </a:ext>
            </a:extLst>
          </p:cNvPr>
          <p:cNvSpPr>
            <a:spLocks noGrp="1"/>
          </p:cNvSpPr>
          <p:nvPr>
            <p:ph type="dt" sz="half" idx="10"/>
          </p:nvPr>
        </p:nvSpPr>
        <p:spPr/>
        <p:txBody>
          <a:bodyPr/>
          <a:lstStyle/>
          <a:p>
            <a:fld id="{4C5C09A9-120D-4C29-A0FE-17AFB794B0AD}" type="datetimeFigureOut">
              <a:rPr lang="en-US" smtClean="0"/>
              <a:t>10/16/2025</a:t>
            </a:fld>
            <a:endParaRPr lang="en-US"/>
          </a:p>
        </p:txBody>
      </p:sp>
      <p:sp>
        <p:nvSpPr>
          <p:cNvPr id="5" name="Footer Placeholder 4">
            <a:extLst>
              <a:ext uri="{FF2B5EF4-FFF2-40B4-BE49-F238E27FC236}">
                <a16:creationId xmlns:a16="http://schemas.microsoft.com/office/drawing/2014/main" id="{F0088065-02E7-DE15-6AB1-38CAED32B6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19077F-F7DD-CD57-3CB9-CDD617BE7FF4}"/>
              </a:ext>
            </a:extLst>
          </p:cNvPr>
          <p:cNvSpPr>
            <a:spLocks noGrp="1"/>
          </p:cNvSpPr>
          <p:nvPr>
            <p:ph type="sldNum" sz="quarter" idx="12"/>
          </p:nvPr>
        </p:nvSpPr>
        <p:spPr/>
        <p:txBody>
          <a:bodyPr/>
          <a:lstStyle/>
          <a:p>
            <a:fld id="{94C33E9F-13A8-4BAC-AFCE-1895510D1BE1}" type="slidenum">
              <a:rPr lang="en-US" smtClean="0"/>
              <a:t>‹#›</a:t>
            </a:fld>
            <a:endParaRPr lang="en-US"/>
          </a:p>
        </p:txBody>
      </p:sp>
    </p:spTree>
    <p:extLst>
      <p:ext uri="{BB962C8B-B14F-4D97-AF65-F5344CB8AC3E}">
        <p14:creationId xmlns:p14="http://schemas.microsoft.com/office/powerpoint/2010/main" val="3311163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AA1947-E777-BF9B-97E0-EEF47D26B7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FC1F57-85E1-BC0A-5519-34BF395190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C8B239-BCE1-0131-A420-905836184B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5C09A9-120D-4C29-A0FE-17AFB794B0AD}" type="datetimeFigureOut">
              <a:rPr lang="en-US" smtClean="0"/>
              <a:t>10/16/2025</a:t>
            </a:fld>
            <a:endParaRPr lang="en-US"/>
          </a:p>
        </p:txBody>
      </p:sp>
      <p:sp>
        <p:nvSpPr>
          <p:cNvPr id="5" name="Footer Placeholder 4">
            <a:extLst>
              <a:ext uri="{FF2B5EF4-FFF2-40B4-BE49-F238E27FC236}">
                <a16:creationId xmlns:a16="http://schemas.microsoft.com/office/drawing/2014/main" id="{B627EF98-A4C9-C6F5-8774-06334B0BB2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1AB6F4-7B23-ACB1-95F7-2C64B2E1F8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C33E9F-13A8-4BAC-AFCE-1895510D1BE1}" type="slidenum">
              <a:rPr lang="en-US" smtClean="0"/>
              <a:t>‹#›</a:t>
            </a:fld>
            <a:endParaRPr lang="en-US"/>
          </a:p>
        </p:txBody>
      </p:sp>
    </p:spTree>
    <p:extLst>
      <p:ext uri="{BB962C8B-B14F-4D97-AF65-F5344CB8AC3E}">
        <p14:creationId xmlns:p14="http://schemas.microsoft.com/office/powerpoint/2010/main" val="1585792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7857-CAA3-9771-C54F-17AA3826B4B8}"/>
              </a:ext>
            </a:extLst>
          </p:cNvPr>
          <p:cNvSpPr>
            <a:spLocks noGrp="1"/>
          </p:cNvSpPr>
          <p:nvPr>
            <p:ph type="ctrTitle"/>
          </p:nvPr>
        </p:nvSpPr>
        <p:spPr/>
        <p:txBody>
          <a:bodyPr/>
          <a:lstStyle/>
          <a:p>
            <a:r>
              <a:rPr lang="en-US"/>
              <a:t>ARP, RARP</a:t>
            </a:r>
            <a:br>
              <a:rPr lang="en-US"/>
            </a:br>
            <a:r>
              <a:rPr lang="en-US"/>
              <a:t>DHCP</a:t>
            </a:r>
          </a:p>
        </p:txBody>
      </p:sp>
      <p:sp>
        <p:nvSpPr>
          <p:cNvPr id="3" name="Subtitle 2">
            <a:extLst>
              <a:ext uri="{FF2B5EF4-FFF2-40B4-BE49-F238E27FC236}">
                <a16:creationId xmlns:a16="http://schemas.microsoft.com/office/drawing/2014/main" id="{32060BE3-5A42-C1AC-4D4A-9D98D29DFA7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01274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C5F21-B014-95DF-D63E-D2682290A12E}"/>
              </a:ext>
            </a:extLst>
          </p:cNvPr>
          <p:cNvSpPr>
            <a:spLocks noGrp="1"/>
          </p:cNvSpPr>
          <p:nvPr>
            <p:ph type="title"/>
          </p:nvPr>
        </p:nvSpPr>
        <p:spPr>
          <a:xfrm>
            <a:off x="838200" y="365126"/>
            <a:ext cx="10515600" cy="645528"/>
          </a:xfrm>
        </p:spPr>
        <p:txBody>
          <a:bodyPr>
            <a:normAutofit fontScale="90000"/>
          </a:bodyPr>
          <a:lstStyle/>
          <a:p>
            <a:r>
              <a:rPr lang="en-US" dirty="0"/>
              <a:t>ARP - Address Resolution Protocol</a:t>
            </a:r>
          </a:p>
        </p:txBody>
      </p:sp>
      <p:sp>
        <p:nvSpPr>
          <p:cNvPr id="3" name="Content Placeholder 2">
            <a:extLst>
              <a:ext uri="{FF2B5EF4-FFF2-40B4-BE49-F238E27FC236}">
                <a16:creationId xmlns:a16="http://schemas.microsoft.com/office/drawing/2014/main" id="{0498D87C-4798-F9AF-1451-09A0A0E7D4DD}"/>
              </a:ext>
            </a:extLst>
          </p:cNvPr>
          <p:cNvSpPr>
            <a:spLocks noGrp="1"/>
          </p:cNvSpPr>
          <p:nvPr>
            <p:ph idx="1"/>
          </p:nvPr>
        </p:nvSpPr>
        <p:spPr>
          <a:xfrm>
            <a:off x="838200" y="1212783"/>
            <a:ext cx="10515600" cy="4964180"/>
          </a:xfrm>
        </p:spPr>
        <p:txBody>
          <a:bodyPr/>
          <a:lstStyle/>
          <a:p>
            <a:pPr algn="just" fontAlgn="base"/>
            <a:r>
              <a:rPr lang="en-US" dirty="0"/>
              <a:t>ARP (Address Resolution Protocol) is a network protocol used to determine the MAC address (hardware address) corresponding to an IP address.</a:t>
            </a:r>
          </a:p>
          <a:p>
            <a:pPr algn="just" fontAlgn="base"/>
            <a:r>
              <a:rPr lang="en-US" dirty="0"/>
              <a:t>When one device in a LAN (Local Area Network) wants to communicate with another, it must know the destination’s MAC address.</a:t>
            </a:r>
          </a:p>
          <a:p>
            <a:pPr algn="just" fontAlgn="base"/>
            <a:r>
              <a:rPr lang="en-US" dirty="0"/>
              <a:t>Since users and applications work with IP addresses, ARP acts as the translator, converting IP addresses into MAC addresses.</a:t>
            </a:r>
          </a:p>
          <a:p>
            <a:pPr algn="just"/>
            <a:r>
              <a:rPr lang="en-US" b="1" i="1" dirty="0"/>
              <a:t>Note: </a:t>
            </a:r>
            <a:r>
              <a:rPr lang="en-US" i="1" dirty="0"/>
              <a:t>ARP works at the Network Layer (Layer 3) but interacts closely with the Data Link Layer (Layer 2).</a:t>
            </a:r>
            <a:endParaRPr lang="en-US" dirty="0"/>
          </a:p>
        </p:txBody>
      </p:sp>
    </p:spTree>
    <p:extLst>
      <p:ext uri="{BB962C8B-B14F-4D97-AF65-F5344CB8AC3E}">
        <p14:creationId xmlns:p14="http://schemas.microsoft.com/office/powerpoint/2010/main" val="506356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6D491-A706-98C7-B243-0BA05C9A3F8A}"/>
              </a:ext>
            </a:extLst>
          </p:cNvPr>
          <p:cNvSpPr>
            <a:spLocks noGrp="1"/>
          </p:cNvSpPr>
          <p:nvPr>
            <p:ph type="title"/>
          </p:nvPr>
        </p:nvSpPr>
        <p:spPr>
          <a:xfrm>
            <a:off x="838200" y="365125"/>
            <a:ext cx="10515600" cy="761031"/>
          </a:xfrm>
        </p:spPr>
        <p:txBody>
          <a:bodyPr/>
          <a:lstStyle/>
          <a:p>
            <a:pPr fontAlgn="base"/>
            <a:r>
              <a:rPr lang="en-US" dirty="0"/>
              <a:t>Important ARP Terms</a:t>
            </a:r>
          </a:p>
        </p:txBody>
      </p:sp>
      <p:sp>
        <p:nvSpPr>
          <p:cNvPr id="3" name="Content Placeholder 2">
            <a:extLst>
              <a:ext uri="{FF2B5EF4-FFF2-40B4-BE49-F238E27FC236}">
                <a16:creationId xmlns:a16="http://schemas.microsoft.com/office/drawing/2014/main" id="{DB550950-B3BD-2095-AEEB-0C98050BC9D9}"/>
              </a:ext>
            </a:extLst>
          </p:cNvPr>
          <p:cNvSpPr>
            <a:spLocks noGrp="1"/>
          </p:cNvSpPr>
          <p:nvPr>
            <p:ph idx="1"/>
          </p:nvPr>
        </p:nvSpPr>
        <p:spPr>
          <a:xfrm>
            <a:off x="838200" y="1309036"/>
            <a:ext cx="10515600" cy="4867927"/>
          </a:xfrm>
        </p:spPr>
        <p:txBody>
          <a:bodyPr/>
          <a:lstStyle/>
          <a:p>
            <a:pPr algn="just" fontAlgn="base"/>
            <a:r>
              <a:rPr lang="en-US" b="1" dirty="0"/>
              <a:t>ARP Cache</a:t>
            </a:r>
            <a:r>
              <a:rPr lang="en-US" dirty="0"/>
              <a:t>: A table where resolved MAC addresses are stored for quick future use.</a:t>
            </a:r>
          </a:p>
          <a:p>
            <a:pPr algn="just" fontAlgn="base"/>
            <a:r>
              <a:rPr lang="en-US" b="1" dirty="0"/>
              <a:t>ARP Cache Timeout</a:t>
            </a:r>
            <a:r>
              <a:rPr lang="en-US" dirty="0"/>
              <a:t>: The duration for which an entry remains valid in the ARP cache.</a:t>
            </a:r>
          </a:p>
          <a:p>
            <a:pPr algn="just" fontAlgn="base"/>
            <a:r>
              <a:rPr lang="en-US" b="1" dirty="0"/>
              <a:t>ARP Request</a:t>
            </a:r>
            <a:r>
              <a:rPr lang="en-US" dirty="0"/>
              <a:t>: A broadcast message asking, "Who has this IP address?”</a:t>
            </a:r>
          </a:p>
          <a:p>
            <a:pPr algn="just" fontAlgn="base"/>
            <a:r>
              <a:rPr lang="en-US" b="1" dirty="0"/>
              <a:t>ARP Reply/Response</a:t>
            </a:r>
            <a:r>
              <a:rPr lang="en-US" dirty="0"/>
              <a:t>: A unicast message containing the MAC address of the requested IP.</a:t>
            </a:r>
          </a:p>
          <a:p>
            <a:endParaRPr lang="en-US" dirty="0"/>
          </a:p>
        </p:txBody>
      </p:sp>
    </p:spTree>
    <p:extLst>
      <p:ext uri="{BB962C8B-B14F-4D97-AF65-F5344CB8AC3E}">
        <p14:creationId xmlns:p14="http://schemas.microsoft.com/office/powerpoint/2010/main" val="1315540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4FBC5-0E3D-F84C-BFC0-2E0A82BFD5BE}"/>
              </a:ext>
            </a:extLst>
          </p:cNvPr>
          <p:cNvSpPr>
            <a:spLocks noGrp="1"/>
          </p:cNvSpPr>
          <p:nvPr>
            <p:ph type="title"/>
          </p:nvPr>
        </p:nvSpPr>
        <p:spPr>
          <a:xfrm>
            <a:off x="838200" y="365125"/>
            <a:ext cx="10515600" cy="857283"/>
          </a:xfrm>
        </p:spPr>
        <p:txBody>
          <a:bodyPr>
            <a:normAutofit/>
          </a:bodyPr>
          <a:lstStyle/>
          <a:p>
            <a:r>
              <a:rPr lang="en-US" dirty="0"/>
              <a:t>Types of ARP</a:t>
            </a:r>
          </a:p>
        </p:txBody>
      </p:sp>
      <p:sp>
        <p:nvSpPr>
          <p:cNvPr id="3" name="Content Placeholder 2">
            <a:extLst>
              <a:ext uri="{FF2B5EF4-FFF2-40B4-BE49-F238E27FC236}">
                <a16:creationId xmlns:a16="http://schemas.microsoft.com/office/drawing/2014/main" id="{5832D50D-066C-AC60-C860-AA44390B3DEB}"/>
              </a:ext>
            </a:extLst>
          </p:cNvPr>
          <p:cNvSpPr>
            <a:spLocks noGrp="1"/>
          </p:cNvSpPr>
          <p:nvPr>
            <p:ph idx="1"/>
          </p:nvPr>
        </p:nvSpPr>
        <p:spPr>
          <a:xfrm>
            <a:off x="838200" y="1222408"/>
            <a:ext cx="10515600" cy="4954555"/>
          </a:xfrm>
        </p:spPr>
        <p:txBody>
          <a:bodyPr>
            <a:normAutofit lnSpcReduction="10000"/>
          </a:bodyPr>
          <a:lstStyle/>
          <a:p>
            <a:pPr marL="0" indent="0" algn="just" fontAlgn="base">
              <a:buNone/>
            </a:pPr>
            <a:r>
              <a:rPr lang="en-US" b="1" dirty="0"/>
              <a:t>1. Proxy ARP </a:t>
            </a:r>
            <a:r>
              <a:rPr lang="en-US" dirty="0"/>
              <a:t>- allows a proxy device (like a router) to respond to ARP requests on behalf of another device. Useful for hiding network complexity or connecting different subnets.</a:t>
            </a:r>
          </a:p>
          <a:p>
            <a:pPr marL="0" indent="0" algn="just" fontAlgn="base">
              <a:buNone/>
            </a:pPr>
            <a:r>
              <a:rPr lang="en-US" b="1" dirty="0"/>
              <a:t>2. Gratuitous ARP - </a:t>
            </a:r>
            <a:r>
              <a:rPr lang="en-US" dirty="0"/>
              <a:t>A host sends an ARP request for its own IP address. Used to detect duplicate IP addresses and update ARP tables on other devices.</a:t>
            </a:r>
          </a:p>
          <a:p>
            <a:pPr marL="0" indent="0" algn="just" fontAlgn="base">
              <a:buNone/>
            </a:pPr>
            <a:r>
              <a:rPr lang="en-US" b="1" dirty="0"/>
              <a:t>3. Reverse ARP (RARP) - </a:t>
            </a:r>
            <a:r>
              <a:rPr lang="en-US" dirty="0"/>
              <a:t>Used by a device to discover its own IP address when it only knows its MAC address. Example: Diskless computers at boot time request their IP from a server.</a:t>
            </a:r>
          </a:p>
          <a:p>
            <a:pPr marL="0" indent="0" algn="just" fontAlgn="base">
              <a:buNone/>
            </a:pPr>
            <a:r>
              <a:rPr lang="en-US" b="1" dirty="0"/>
              <a:t>4. Inverse ARP (</a:t>
            </a:r>
            <a:r>
              <a:rPr lang="en-US" b="1" dirty="0" err="1"/>
              <a:t>InARP</a:t>
            </a:r>
            <a:r>
              <a:rPr lang="en-US" b="1" dirty="0"/>
              <a:t>) - </a:t>
            </a:r>
            <a:r>
              <a:rPr lang="en-US" dirty="0"/>
              <a:t>Opposite of ARP - used to discover the IP address from a known MAC address. Common in technologies like Frame Relay and ATM networks.</a:t>
            </a:r>
          </a:p>
          <a:p>
            <a:endParaRPr lang="en-US" dirty="0"/>
          </a:p>
        </p:txBody>
      </p:sp>
    </p:spTree>
    <p:extLst>
      <p:ext uri="{BB962C8B-B14F-4D97-AF65-F5344CB8AC3E}">
        <p14:creationId xmlns:p14="http://schemas.microsoft.com/office/powerpoint/2010/main" val="3512906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DE22E-A485-891B-C3DB-1D0C887561D0}"/>
              </a:ext>
            </a:extLst>
          </p:cNvPr>
          <p:cNvSpPr>
            <a:spLocks noGrp="1"/>
          </p:cNvSpPr>
          <p:nvPr>
            <p:ph type="title"/>
          </p:nvPr>
        </p:nvSpPr>
        <p:spPr>
          <a:xfrm>
            <a:off x="838200" y="365125"/>
            <a:ext cx="10515600" cy="866909"/>
          </a:xfrm>
        </p:spPr>
        <p:txBody>
          <a:bodyPr>
            <a:normAutofit/>
          </a:bodyPr>
          <a:lstStyle/>
          <a:p>
            <a:r>
              <a:rPr lang="en-US" dirty="0"/>
              <a:t>How ARP Works</a:t>
            </a:r>
          </a:p>
        </p:txBody>
      </p:sp>
      <p:sp>
        <p:nvSpPr>
          <p:cNvPr id="3" name="Content Placeholder 2">
            <a:extLst>
              <a:ext uri="{FF2B5EF4-FFF2-40B4-BE49-F238E27FC236}">
                <a16:creationId xmlns:a16="http://schemas.microsoft.com/office/drawing/2014/main" id="{3A450A9B-59E3-9AAD-9E65-BCA482ABDD8C}"/>
              </a:ext>
            </a:extLst>
          </p:cNvPr>
          <p:cNvSpPr>
            <a:spLocks noGrp="1"/>
          </p:cNvSpPr>
          <p:nvPr>
            <p:ph idx="1"/>
          </p:nvPr>
        </p:nvSpPr>
        <p:spPr>
          <a:xfrm>
            <a:off x="838200" y="1366787"/>
            <a:ext cx="10515600" cy="4810176"/>
          </a:xfrm>
        </p:spPr>
        <p:txBody>
          <a:bodyPr>
            <a:normAutofit fontScale="92500"/>
          </a:bodyPr>
          <a:lstStyle/>
          <a:p>
            <a:pPr algn="just"/>
            <a:r>
              <a:rPr lang="en-US" dirty="0"/>
              <a:t>The following steps are involved</a:t>
            </a:r>
          </a:p>
          <a:p>
            <a:pPr algn="just" fontAlgn="base"/>
            <a:r>
              <a:rPr lang="en-US" b="1" dirty="0"/>
              <a:t>Sender checks ARP Cache:</a:t>
            </a:r>
            <a:r>
              <a:rPr lang="en-US" dirty="0"/>
              <a:t> If the MAC address for the destination IP is already cached, communication starts immediately.</a:t>
            </a:r>
          </a:p>
          <a:p>
            <a:pPr algn="just" fontAlgn="base"/>
            <a:r>
              <a:rPr lang="en-US" b="1" dirty="0"/>
              <a:t>ARP Request Broadcast</a:t>
            </a:r>
            <a:r>
              <a:rPr lang="en-US" dirty="0"/>
              <a:t>: If not cached, the sender broadcasts an ARP request on the LAN.</a:t>
            </a:r>
          </a:p>
          <a:p>
            <a:pPr algn="just" fontAlgn="base"/>
            <a:r>
              <a:rPr lang="en-US" b="1" dirty="0"/>
              <a:t>All Devices Receive Request</a:t>
            </a:r>
            <a:r>
              <a:rPr lang="en-US" dirty="0"/>
              <a:t>: Each device checks whether the requested IP matches its own.</a:t>
            </a:r>
          </a:p>
          <a:p>
            <a:pPr algn="just" fontAlgn="base"/>
            <a:r>
              <a:rPr lang="en-US" b="1" dirty="0"/>
              <a:t>Destination Replies</a:t>
            </a:r>
            <a:r>
              <a:rPr lang="en-US" dirty="0"/>
              <a:t>: The device with the matching IP sends an ARP reply (unicast) containing its MAC address.</a:t>
            </a:r>
          </a:p>
          <a:p>
            <a:pPr algn="just" fontAlgn="base"/>
            <a:r>
              <a:rPr lang="en-US" b="1" dirty="0"/>
              <a:t>Cache Update</a:t>
            </a:r>
            <a:r>
              <a:rPr lang="en-US" dirty="0"/>
              <a:t>: The sender updates its ARP cache with the new MAC address for future use.</a:t>
            </a:r>
          </a:p>
          <a:p>
            <a:endParaRPr lang="en-US" dirty="0"/>
          </a:p>
        </p:txBody>
      </p:sp>
    </p:spTree>
    <p:extLst>
      <p:ext uri="{BB962C8B-B14F-4D97-AF65-F5344CB8AC3E}">
        <p14:creationId xmlns:p14="http://schemas.microsoft.com/office/powerpoint/2010/main" val="2764625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91834-BCD7-45EA-C0A7-7AC972DA94E4}"/>
              </a:ext>
            </a:extLst>
          </p:cNvPr>
          <p:cNvSpPr>
            <a:spLocks noGrp="1"/>
          </p:cNvSpPr>
          <p:nvPr>
            <p:ph type="title"/>
          </p:nvPr>
        </p:nvSpPr>
        <p:spPr>
          <a:xfrm>
            <a:off x="838200" y="365126"/>
            <a:ext cx="10515600" cy="934286"/>
          </a:xfrm>
        </p:spPr>
        <p:txBody>
          <a:bodyPr/>
          <a:lstStyle/>
          <a:p>
            <a:r>
              <a:rPr lang="en-US" dirty="0"/>
              <a:t>How ARP Works (cont.)</a:t>
            </a:r>
          </a:p>
        </p:txBody>
      </p:sp>
      <p:pic>
        <p:nvPicPr>
          <p:cNvPr id="5" name="Content Placeholder 4" descr="A diagram of a computer network&#10;&#10;AI-generated content may be incorrect.">
            <a:extLst>
              <a:ext uri="{FF2B5EF4-FFF2-40B4-BE49-F238E27FC236}">
                <a16:creationId xmlns:a16="http://schemas.microsoft.com/office/drawing/2014/main" id="{69D7F9DF-1ADE-9608-238A-D8450DBFAA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2152" y="1463675"/>
            <a:ext cx="9586763" cy="4713288"/>
          </a:xfrm>
        </p:spPr>
      </p:pic>
    </p:spTree>
    <p:extLst>
      <p:ext uri="{BB962C8B-B14F-4D97-AF65-F5344CB8AC3E}">
        <p14:creationId xmlns:p14="http://schemas.microsoft.com/office/powerpoint/2010/main" val="4042163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A180-C3AF-FBC2-8C3D-45FC54EA7126}"/>
              </a:ext>
            </a:extLst>
          </p:cNvPr>
          <p:cNvSpPr>
            <a:spLocks noGrp="1"/>
          </p:cNvSpPr>
          <p:nvPr>
            <p:ph type="title"/>
          </p:nvPr>
        </p:nvSpPr>
        <p:spPr>
          <a:xfrm>
            <a:off x="838200" y="365125"/>
            <a:ext cx="10515600" cy="780281"/>
          </a:xfrm>
        </p:spPr>
        <p:txBody>
          <a:bodyPr>
            <a:normAutofit/>
          </a:bodyPr>
          <a:lstStyle/>
          <a:p>
            <a:r>
              <a:rPr lang="en-US" dirty="0"/>
              <a:t>ARP Message Format</a:t>
            </a:r>
          </a:p>
        </p:txBody>
      </p:sp>
      <p:pic>
        <p:nvPicPr>
          <p:cNvPr id="5" name="Content Placeholder 4" descr="A screenshot of a computer program&#10;&#10;AI-generated content may be incorrect.">
            <a:extLst>
              <a:ext uri="{FF2B5EF4-FFF2-40B4-BE49-F238E27FC236}">
                <a16:creationId xmlns:a16="http://schemas.microsoft.com/office/drawing/2014/main" id="{D9BDA454-6B19-37B2-F7CC-542C4F4B00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8087" y="1289050"/>
            <a:ext cx="9775825" cy="4887913"/>
          </a:xfrm>
        </p:spPr>
      </p:pic>
    </p:spTree>
    <p:extLst>
      <p:ext uri="{BB962C8B-B14F-4D97-AF65-F5344CB8AC3E}">
        <p14:creationId xmlns:p14="http://schemas.microsoft.com/office/powerpoint/2010/main" val="2985246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46EA8-653F-CA6C-FA1B-5002C206C999}"/>
              </a:ext>
            </a:extLst>
          </p:cNvPr>
          <p:cNvSpPr>
            <a:spLocks noGrp="1"/>
          </p:cNvSpPr>
          <p:nvPr>
            <p:ph type="title"/>
          </p:nvPr>
        </p:nvSpPr>
        <p:spPr>
          <a:xfrm>
            <a:off x="838200" y="365126"/>
            <a:ext cx="10515600" cy="895784"/>
          </a:xfrm>
        </p:spPr>
        <p:txBody>
          <a:bodyPr/>
          <a:lstStyle/>
          <a:p>
            <a:r>
              <a:rPr lang="en-US" dirty="0"/>
              <a:t>ARP Message Format</a:t>
            </a:r>
          </a:p>
        </p:txBody>
      </p:sp>
      <p:sp>
        <p:nvSpPr>
          <p:cNvPr id="3" name="Content Placeholder 2">
            <a:extLst>
              <a:ext uri="{FF2B5EF4-FFF2-40B4-BE49-F238E27FC236}">
                <a16:creationId xmlns:a16="http://schemas.microsoft.com/office/drawing/2014/main" id="{98C05A9E-C241-7A05-1779-4797AD713957}"/>
              </a:ext>
            </a:extLst>
          </p:cNvPr>
          <p:cNvSpPr>
            <a:spLocks noGrp="1"/>
          </p:cNvSpPr>
          <p:nvPr>
            <p:ph idx="1"/>
          </p:nvPr>
        </p:nvSpPr>
        <p:spPr>
          <a:xfrm>
            <a:off x="838200" y="1434164"/>
            <a:ext cx="10515600" cy="4742799"/>
          </a:xfrm>
        </p:spPr>
        <p:txBody>
          <a:bodyPr>
            <a:normAutofit fontScale="92500" lnSpcReduction="10000"/>
          </a:bodyPr>
          <a:lstStyle/>
          <a:p>
            <a:pPr algn="just"/>
            <a:r>
              <a:rPr lang="en-US" dirty="0"/>
              <a:t>An ARP message consists of several fields:</a:t>
            </a:r>
          </a:p>
          <a:p>
            <a:pPr algn="just" fontAlgn="base"/>
            <a:r>
              <a:rPr lang="en-US" b="1" dirty="0"/>
              <a:t>Hardware Type (2 bytes):</a:t>
            </a:r>
            <a:r>
              <a:rPr lang="en-US" dirty="0"/>
              <a:t> Defines hardware (Ethernet = 1).</a:t>
            </a:r>
          </a:p>
          <a:p>
            <a:pPr algn="just" fontAlgn="base"/>
            <a:r>
              <a:rPr lang="en-US" b="1" dirty="0"/>
              <a:t>Protocol Type (2 bytes):</a:t>
            </a:r>
            <a:r>
              <a:rPr lang="en-US" dirty="0"/>
              <a:t> Defines protocol (IPv4 = 0x0800).</a:t>
            </a:r>
          </a:p>
          <a:p>
            <a:pPr algn="just" fontAlgn="base"/>
            <a:r>
              <a:rPr lang="en-US" b="1" dirty="0"/>
              <a:t>Hardware Address Length (1 byte):</a:t>
            </a:r>
            <a:r>
              <a:rPr lang="en-US" dirty="0"/>
              <a:t> Length of MAC address (6 for Ethernet).</a:t>
            </a:r>
          </a:p>
          <a:p>
            <a:pPr algn="just" fontAlgn="base"/>
            <a:r>
              <a:rPr lang="en-US" b="1" dirty="0"/>
              <a:t>Protocol Address Length (1 byte):</a:t>
            </a:r>
            <a:r>
              <a:rPr lang="en-US" dirty="0"/>
              <a:t> Length of IP address (4 for IPv4).</a:t>
            </a:r>
          </a:p>
          <a:p>
            <a:pPr algn="just" fontAlgn="base"/>
            <a:r>
              <a:rPr lang="en-US" b="1" dirty="0"/>
              <a:t>Operation Code (2 bytes):</a:t>
            </a:r>
            <a:r>
              <a:rPr lang="en-US" dirty="0"/>
              <a:t> 1 for request, 2 for reply.</a:t>
            </a:r>
          </a:p>
          <a:p>
            <a:pPr algn="just" fontAlgn="base"/>
            <a:r>
              <a:rPr lang="en-US" b="1" dirty="0"/>
              <a:t>Sender Hardware Address:</a:t>
            </a:r>
            <a:r>
              <a:rPr lang="en-US" dirty="0"/>
              <a:t> MAC of the sender.</a:t>
            </a:r>
          </a:p>
          <a:p>
            <a:pPr algn="just" fontAlgn="base"/>
            <a:r>
              <a:rPr lang="en-US" b="1" dirty="0"/>
              <a:t>Sender Protocol Address:</a:t>
            </a:r>
            <a:r>
              <a:rPr lang="en-US" dirty="0"/>
              <a:t> IP of the sender.</a:t>
            </a:r>
          </a:p>
          <a:p>
            <a:pPr algn="just" fontAlgn="base"/>
            <a:r>
              <a:rPr lang="en-US" b="1" dirty="0"/>
              <a:t>Target Hardware Address:</a:t>
            </a:r>
            <a:r>
              <a:rPr lang="en-US" dirty="0"/>
              <a:t> Empty in request; receiver’s MAC in reply.</a:t>
            </a:r>
          </a:p>
          <a:p>
            <a:pPr algn="just" fontAlgn="base"/>
            <a:r>
              <a:rPr lang="en-US" b="1" dirty="0"/>
              <a:t>Target Protocol Address:</a:t>
            </a:r>
            <a:r>
              <a:rPr lang="en-US" dirty="0"/>
              <a:t> Receiver’s IP.</a:t>
            </a:r>
          </a:p>
          <a:p>
            <a:pPr marL="0" indent="0">
              <a:buNone/>
            </a:pPr>
            <a:endParaRPr lang="en-US" dirty="0"/>
          </a:p>
        </p:txBody>
      </p:sp>
    </p:spTree>
    <p:extLst>
      <p:ext uri="{BB962C8B-B14F-4D97-AF65-F5344CB8AC3E}">
        <p14:creationId xmlns:p14="http://schemas.microsoft.com/office/powerpoint/2010/main" val="1009584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1096E-58DB-DD67-D75E-5EBED90A3049}"/>
              </a:ext>
            </a:extLst>
          </p:cNvPr>
          <p:cNvSpPr>
            <a:spLocks noGrp="1"/>
          </p:cNvSpPr>
          <p:nvPr>
            <p:ph type="title"/>
          </p:nvPr>
        </p:nvSpPr>
        <p:spPr>
          <a:xfrm>
            <a:off x="838200" y="365125"/>
            <a:ext cx="10515600" cy="886159"/>
          </a:xfrm>
        </p:spPr>
        <p:txBody>
          <a:bodyPr>
            <a:normAutofit/>
          </a:bodyPr>
          <a:lstStyle/>
          <a:p>
            <a:r>
              <a:rPr lang="en-US" dirty="0"/>
              <a:t>Advantages of ARP Protocol</a:t>
            </a:r>
          </a:p>
        </p:txBody>
      </p:sp>
      <p:sp>
        <p:nvSpPr>
          <p:cNvPr id="3" name="Content Placeholder 2">
            <a:extLst>
              <a:ext uri="{FF2B5EF4-FFF2-40B4-BE49-F238E27FC236}">
                <a16:creationId xmlns:a16="http://schemas.microsoft.com/office/drawing/2014/main" id="{F640CC8D-BD91-6807-7B19-42360D4B56FA}"/>
              </a:ext>
            </a:extLst>
          </p:cNvPr>
          <p:cNvSpPr>
            <a:spLocks noGrp="1"/>
          </p:cNvSpPr>
          <p:nvPr>
            <p:ph idx="1"/>
          </p:nvPr>
        </p:nvSpPr>
        <p:spPr>
          <a:xfrm>
            <a:off x="838200" y="1453415"/>
            <a:ext cx="10515600" cy="4723548"/>
          </a:xfrm>
        </p:spPr>
        <p:txBody>
          <a:bodyPr/>
          <a:lstStyle/>
          <a:p>
            <a:pPr algn="just" fontAlgn="base"/>
            <a:r>
              <a:rPr lang="en-US" b="1" dirty="0"/>
              <a:t>Automatic Mapping:</a:t>
            </a:r>
            <a:r>
              <a:rPr lang="en-US" dirty="0"/>
              <a:t> No need for manual configuration to resolve MAC addresses.</a:t>
            </a:r>
          </a:p>
          <a:p>
            <a:pPr algn="just" fontAlgn="base"/>
            <a:r>
              <a:rPr lang="en-US" b="1" dirty="0"/>
              <a:t>Efficiency:</a:t>
            </a:r>
            <a:r>
              <a:rPr lang="en-US" dirty="0"/>
              <a:t> Ensures smooth communication within LANs.</a:t>
            </a:r>
          </a:p>
          <a:p>
            <a:pPr algn="just" fontAlgn="base"/>
            <a:r>
              <a:rPr lang="en-US" b="1" dirty="0"/>
              <a:t>Transparency:</a:t>
            </a:r>
            <a:r>
              <a:rPr lang="en-US" dirty="0"/>
              <a:t> Works in the background without user intervention.</a:t>
            </a:r>
          </a:p>
          <a:p>
            <a:pPr algn="just" fontAlgn="base"/>
            <a:r>
              <a:rPr lang="en-US" b="1" dirty="0"/>
              <a:t>Flexibility:</a:t>
            </a:r>
            <a:r>
              <a:rPr lang="en-US" dirty="0"/>
              <a:t> Supports different types (Proxy, Gratuitous, Reverse, Inverse) for varied networking needs.</a:t>
            </a:r>
          </a:p>
          <a:p>
            <a:pPr marL="0" indent="0">
              <a:buNone/>
            </a:pPr>
            <a:endParaRPr lang="en-US" dirty="0"/>
          </a:p>
        </p:txBody>
      </p:sp>
    </p:spTree>
    <p:extLst>
      <p:ext uri="{BB962C8B-B14F-4D97-AF65-F5344CB8AC3E}">
        <p14:creationId xmlns:p14="http://schemas.microsoft.com/office/powerpoint/2010/main" val="3813750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24-A71D-2AD8-562F-8B724F620491}"/>
              </a:ext>
            </a:extLst>
          </p:cNvPr>
          <p:cNvSpPr>
            <a:spLocks noGrp="1"/>
          </p:cNvSpPr>
          <p:nvPr>
            <p:ph type="title"/>
          </p:nvPr>
        </p:nvSpPr>
        <p:spPr>
          <a:xfrm>
            <a:off x="838200" y="365126"/>
            <a:ext cx="10515600" cy="818782"/>
          </a:xfrm>
        </p:spPr>
        <p:txBody>
          <a:bodyPr>
            <a:normAutofit/>
          </a:bodyPr>
          <a:lstStyle/>
          <a:p>
            <a:r>
              <a:rPr lang="en-US" dirty="0"/>
              <a:t>RARP-Reverse Address Resolution Protocol</a:t>
            </a:r>
          </a:p>
        </p:txBody>
      </p:sp>
      <p:sp>
        <p:nvSpPr>
          <p:cNvPr id="3" name="Content Placeholder 2">
            <a:extLst>
              <a:ext uri="{FF2B5EF4-FFF2-40B4-BE49-F238E27FC236}">
                <a16:creationId xmlns:a16="http://schemas.microsoft.com/office/drawing/2014/main" id="{F55ABF14-08F2-691A-E214-5C22C82AB7A1}"/>
              </a:ext>
            </a:extLst>
          </p:cNvPr>
          <p:cNvSpPr>
            <a:spLocks noGrp="1"/>
          </p:cNvSpPr>
          <p:nvPr>
            <p:ph idx="1"/>
          </p:nvPr>
        </p:nvSpPr>
        <p:spPr>
          <a:xfrm>
            <a:off x="838200" y="1337912"/>
            <a:ext cx="10515600" cy="4839051"/>
          </a:xfrm>
        </p:spPr>
        <p:txBody>
          <a:bodyPr>
            <a:normAutofit fontScale="92500" lnSpcReduction="10000"/>
          </a:bodyPr>
          <a:lstStyle/>
          <a:p>
            <a:pPr algn="just"/>
            <a:r>
              <a:rPr lang="en-US" dirty="0"/>
              <a:t>Reverse Address Resolution Protocol (RARP) is a network protocol that allows a device to discover its IP address when only its MAC (Media Access Control) address is known. Components are-</a:t>
            </a:r>
          </a:p>
          <a:p>
            <a:pPr algn="just" fontAlgn="base"/>
            <a:r>
              <a:rPr lang="en-US" b="1" dirty="0"/>
              <a:t>IP Address Assignment:</a:t>
            </a:r>
            <a:r>
              <a:rPr lang="en-US" dirty="0"/>
              <a:t> Normally, a machine stores its IP address in a configuration file. Diskless systems cannot do this and rely on RARP for IP assignment.</a:t>
            </a:r>
          </a:p>
          <a:p>
            <a:pPr algn="just" fontAlgn="base"/>
            <a:r>
              <a:rPr lang="en-US" b="1" dirty="0"/>
              <a:t>Physical Address:</a:t>
            </a:r>
            <a:r>
              <a:rPr lang="en-US" dirty="0"/>
              <a:t> Every network device has a unique MAC address, stored in its Network Interface Card (NIC).</a:t>
            </a:r>
          </a:p>
          <a:p>
            <a:pPr algn="just" fontAlgn="base"/>
            <a:r>
              <a:rPr lang="en-US" b="1" dirty="0"/>
              <a:t>RARP Request</a:t>
            </a:r>
            <a:r>
              <a:rPr lang="en-US" dirty="0"/>
              <a:t>: A device broadcasts a request containing its MAC address to ask for the corresponding IP address.</a:t>
            </a:r>
          </a:p>
          <a:p>
            <a:pPr algn="just" fontAlgn="base"/>
            <a:r>
              <a:rPr lang="en-US" b="1" dirty="0"/>
              <a:t>RARP Server:</a:t>
            </a:r>
            <a:r>
              <a:rPr lang="en-US" dirty="0"/>
              <a:t> The server maintains a mapping of MAC addresses to IP addresses. On receiving a request, it replies with the correct IP address.</a:t>
            </a:r>
          </a:p>
          <a:p>
            <a:endParaRPr lang="en-US" dirty="0"/>
          </a:p>
        </p:txBody>
      </p:sp>
    </p:spTree>
    <p:extLst>
      <p:ext uri="{BB962C8B-B14F-4D97-AF65-F5344CB8AC3E}">
        <p14:creationId xmlns:p14="http://schemas.microsoft.com/office/powerpoint/2010/main" val="367287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FF35D-B76A-133C-10D3-4B4639B71BB3}"/>
              </a:ext>
            </a:extLst>
          </p:cNvPr>
          <p:cNvSpPr>
            <a:spLocks noGrp="1"/>
          </p:cNvSpPr>
          <p:nvPr>
            <p:ph type="title"/>
          </p:nvPr>
        </p:nvSpPr>
        <p:spPr>
          <a:xfrm>
            <a:off x="838200" y="365125"/>
            <a:ext cx="10515600" cy="818782"/>
          </a:xfrm>
        </p:spPr>
        <p:txBody>
          <a:bodyPr>
            <a:normAutofit/>
          </a:bodyPr>
          <a:lstStyle/>
          <a:p>
            <a:r>
              <a:rPr lang="en-US" dirty="0"/>
              <a:t>RARP</a:t>
            </a:r>
          </a:p>
        </p:txBody>
      </p:sp>
      <p:pic>
        <p:nvPicPr>
          <p:cNvPr id="5" name="Content Placeholder 4" descr="A computer network diagram with a few computer icons&#10;&#10;AI-generated content may be incorrect.">
            <a:extLst>
              <a:ext uri="{FF2B5EF4-FFF2-40B4-BE49-F238E27FC236}">
                <a16:creationId xmlns:a16="http://schemas.microsoft.com/office/drawing/2014/main" id="{C10CAB2A-C52A-A15E-21AC-2DB81A6B0D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3276" y="1385888"/>
            <a:ext cx="9949787" cy="4791075"/>
          </a:xfrm>
        </p:spPr>
      </p:pic>
    </p:spTree>
    <p:extLst>
      <p:ext uri="{BB962C8B-B14F-4D97-AF65-F5344CB8AC3E}">
        <p14:creationId xmlns:p14="http://schemas.microsoft.com/office/powerpoint/2010/main" val="1593561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6DD26-2A98-8344-A495-2CFE79E7C8EC}"/>
              </a:ext>
            </a:extLst>
          </p:cNvPr>
          <p:cNvSpPr>
            <a:spLocks noGrp="1"/>
          </p:cNvSpPr>
          <p:nvPr>
            <p:ph type="title"/>
          </p:nvPr>
        </p:nvSpPr>
        <p:spPr>
          <a:xfrm>
            <a:off x="838200" y="365126"/>
            <a:ext cx="10515600" cy="770656"/>
          </a:xfrm>
        </p:spPr>
        <p:txBody>
          <a:bodyPr/>
          <a:lstStyle/>
          <a:p>
            <a:r>
              <a:rPr lang="en-US" dirty="0"/>
              <a:t>How it works</a:t>
            </a:r>
          </a:p>
        </p:txBody>
      </p:sp>
      <p:sp>
        <p:nvSpPr>
          <p:cNvPr id="3" name="Content Placeholder 2">
            <a:extLst>
              <a:ext uri="{FF2B5EF4-FFF2-40B4-BE49-F238E27FC236}">
                <a16:creationId xmlns:a16="http://schemas.microsoft.com/office/drawing/2014/main" id="{5167A597-F95F-9326-5097-6BC93D9D4C4E}"/>
              </a:ext>
            </a:extLst>
          </p:cNvPr>
          <p:cNvSpPr>
            <a:spLocks noGrp="1"/>
          </p:cNvSpPr>
          <p:nvPr>
            <p:ph idx="1"/>
          </p:nvPr>
        </p:nvSpPr>
        <p:spPr>
          <a:xfrm>
            <a:off x="838200" y="1337912"/>
            <a:ext cx="10515600" cy="4839051"/>
          </a:xfrm>
        </p:spPr>
        <p:txBody>
          <a:bodyPr/>
          <a:lstStyle/>
          <a:p>
            <a:pPr algn="just"/>
            <a:r>
              <a:rPr lang="en-US" dirty="0"/>
              <a:t>When a machine doesn't have the memory to store its IP address, such as diskless machines or newly configured systems, it uses RARP to request an IP address.</a:t>
            </a:r>
          </a:p>
          <a:p>
            <a:pPr algn="just" fontAlgn="base"/>
            <a:r>
              <a:rPr lang="en-US" b="1" dirty="0"/>
              <a:t>RARP Request</a:t>
            </a:r>
            <a:r>
              <a:rPr lang="en-US" dirty="0"/>
              <a:t>: A client broadcasts a RARP request containing its MAC address.</a:t>
            </a:r>
          </a:p>
          <a:p>
            <a:pPr algn="just" fontAlgn="base"/>
            <a:r>
              <a:rPr lang="en-US" b="1" dirty="0"/>
              <a:t>Server Lookup</a:t>
            </a:r>
            <a:r>
              <a:rPr lang="en-US" dirty="0"/>
              <a:t>: A RARP server (or gateway router with ARP table) checks its mapping of MAC -&gt; IP.</a:t>
            </a:r>
          </a:p>
          <a:p>
            <a:pPr algn="just" fontAlgn="base"/>
            <a:r>
              <a:rPr lang="en-US" b="1" dirty="0"/>
              <a:t>RARP Reply</a:t>
            </a:r>
            <a:r>
              <a:rPr lang="en-US" dirty="0"/>
              <a:t>: If a match is found, the server responds with the client’s IP address.</a:t>
            </a:r>
          </a:p>
          <a:p>
            <a:pPr algn="just" fontAlgn="base"/>
            <a:r>
              <a:rPr lang="en-US" b="1" dirty="0"/>
              <a:t>Client Configuration</a:t>
            </a:r>
            <a:r>
              <a:rPr lang="en-US" dirty="0"/>
              <a:t>: The client configures itself with the provided IP and can now communicate on the network.</a:t>
            </a:r>
          </a:p>
          <a:p>
            <a:endParaRPr lang="en-US" dirty="0"/>
          </a:p>
        </p:txBody>
      </p:sp>
    </p:spTree>
    <p:extLst>
      <p:ext uri="{BB962C8B-B14F-4D97-AF65-F5344CB8AC3E}">
        <p14:creationId xmlns:p14="http://schemas.microsoft.com/office/powerpoint/2010/main" val="238369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31B23-CF61-0466-0044-0209A6038D8B}"/>
              </a:ext>
            </a:extLst>
          </p:cNvPr>
          <p:cNvSpPr>
            <a:spLocks noGrp="1"/>
          </p:cNvSpPr>
          <p:nvPr>
            <p:ph type="title"/>
          </p:nvPr>
        </p:nvSpPr>
        <p:spPr>
          <a:xfrm>
            <a:off x="838200" y="365126"/>
            <a:ext cx="10515600" cy="770656"/>
          </a:xfrm>
        </p:spPr>
        <p:txBody>
          <a:bodyPr>
            <a:normAutofit/>
          </a:bodyPr>
          <a:lstStyle/>
          <a:p>
            <a:r>
              <a:rPr lang="en-US" dirty="0"/>
              <a:t>RARP Packet Format &amp; Encapsulation</a:t>
            </a:r>
          </a:p>
        </p:txBody>
      </p:sp>
      <p:graphicFrame>
        <p:nvGraphicFramePr>
          <p:cNvPr id="4" name="Content Placeholder 3">
            <a:extLst>
              <a:ext uri="{FF2B5EF4-FFF2-40B4-BE49-F238E27FC236}">
                <a16:creationId xmlns:a16="http://schemas.microsoft.com/office/drawing/2014/main" id="{BFAF5521-F3DA-409D-2E38-8BD800461B3C}"/>
              </a:ext>
            </a:extLst>
          </p:cNvPr>
          <p:cNvGraphicFramePr>
            <a:graphicFrameLocks noGrp="1"/>
          </p:cNvGraphicFramePr>
          <p:nvPr>
            <p:ph idx="1"/>
            <p:extLst>
              <p:ext uri="{D42A27DB-BD31-4B8C-83A1-F6EECF244321}">
                <p14:modId xmlns:p14="http://schemas.microsoft.com/office/powerpoint/2010/main" val="2168289014"/>
              </p:ext>
            </p:extLst>
          </p:nvPr>
        </p:nvGraphicFramePr>
        <p:xfrm>
          <a:off x="770823" y="1184725"/>
          <a:ext cx="10515600" cy="5177574"/>
        </p:xfrm>
        <a:graphic>
          <a:graphicData uri="http://schemas.openxmlformats.org/drawingml/2006/table">
            <a:tbl>
              <a:tblPr firstRow="1" bandRow="1">
                <a:tableStyleId>{2D5ABB26-0587-4C30-8999-92F81FD0307C}</a:tableStyleId>
              </a:tblPr>
              <a:tblGrid>
                <a:gridCol w="10515600">
                  <a:extLst>
                    <a:ext uri="{9D8B030D-6E8A-4147-A177-3AD203B41FA5}">
                      <a16:colId xmlns:a16="http://schemas.microsoft.com/office/drawing/2014/main" val="880885543"/>
                    </a:ext>
                  </a:extLst>
                </a:gridCol>
              </a:tblGrid>
              <a:tr h="4472459">
                <a:tc>
                  <a:txBody>
                    <a:bodyPr/>
                    <a:lstStyle/>
                    <a:p>
                      <a:pPr lvl="1"/>
                      <a:endParaRPr lang="en-US" dirty="0"/>
                    </a:p>
                  </a:txBody>
                  <a:tcPr/>
                </a:tc>
                <a:extLst>
                  <a:ext uri="{0D108BD9-81ED-4DB2-BD59-A6C34878D82A}">
                    <a16:rowId xmlns:a16="http://schemas.microsoft.com/office/drawing/2014/main" val="1960612728"/>
                  </a:ext>
                </a:extLst>
              </a:tr>
              <a:tr h="705115">
                <a:tc>
                  <a:txBody>
                    <a:bodyPr/>
                    <a:lstStyle/>
                    <a:p>
                      <a:pPr lvl="1"/>
                      <a:r>
                        <a:rPr lang="en-US" sz="1800" b="1" kern="1200" dirty="0">
                          <a:solidFill>
                            <a:schemeClr val="tx1"/>
                          </a:solidFill>
                          <a:effectLst/>
                        </a:rPr>
                        <a:t>Encapsulation</a:t>
                      </a:r>
                      <a:r>
                        <a:rPr lang="en-US" sz="1800" b="0" kern="1200" dirty="0">
                          <a:solidFill>
                            <a:schemeClr val="tx1"/>
                          </a:solidFill>
                          <a:effectLst/>
                        </a:rPr>
                        <a:t>: RARP packets are encapsulated directly into data-link layer frames (e.g., Ethernet frames) so they can be transmitted over the LAN.</a:t>
                      </a:r>
                      <a:endParaRPr lang="en-US" dirty="0"/>
                    </a:p>
                  </a:txBody>
                  <a:tcPr/>
                </a:tc>
                <a:extLst>
                  <a:ext uri="{0D108BD9-81ED-4DB2-BD59-A6C34878D82A}">
                    <a16:rowId xmlns:a16="http://schemas.microsoft.com/office/drawing/2014/main" val="2379376960"/>
                  </a:ext>
                </a:extLst>
              </a:tr>
            </a:tbl>
          </a:graphicData>
        </a:graphic>
      </p:graphicFrame>
      <p:pic>
        <p:nvPicPr>
          <p:cNvPr id="6" name="Picture 5" descr="A screenshot of a computer program&#10;&#10;AI-generated content may be incorrect.">
            <a:extLst>
              <a:ext uri="{FF2B5EF4-FFF2-40B4-BE49-F238E27FC236}">
                <a16:creationId xmlns:a16="http://schemas.microsoft.com/office/drawing/2014/main" id="{E2F2368F-6009-0BC2-3957-A30F95523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7162" y="1184725"/>
            <a:ext cx="9452008" cy="4147671"/>
          </a:xfrm>
          <a:prstGeom prst="rect">
            <a:avLst/>
          </a:prstGeom>
        </p:spPr>
      </p:pic>
    </p:spTree>
    <p:extLst>
      <p:ext uri="{BB962C8B-B14F-4D97-AF65-F5344CB8AC3E}">
        <p14:creationId xmlns:p14="http://schemas.microsoft.com/office/powerpoint/2010/main" val="1296894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538E3-1A3B-0C00-F576-94042C24D5AC}"/>
              </a:ext>
            </a:extLst>
          </p:cNvPr>
          <p:cNvSpPr>
            <a:spLocks noGrp="1"/>
          </p:cNvSpPr>
          <p:nvPr>
            <p:ph type="title"/>
          </p:nvPr>
        </p:nvSpPr>
        <p:spPr>
          <a:xfrm>
            <a:off x="838200" y="365125"/>
            <a:ext cx="10515600" cy="789907"/>
          </a:xfrm>
        </p:spPr>
        <p:txBody>
          <a:bodyPr>
            <a:normAutofit/>
          </a:bodyPr>
          <a:lstStyle/>
          <a:p>
            <a:r>
              <a:rPr lang="en-US" dirty="0"/>
              <a:t>Dynamic Host Configuration Protocol (DHCP)</a:t>
            </a:r>
          </a:p>
        </p:txBody>
      </p:sp>
      <p:sp>
        <p:nvSpPr>
          <p:cNvPr id="3" name="Content Placeholder 2">
            <a:extLst>
              <a:ext uri="{FF2B5EF4-FFF2-40B4-BE49-F238E27FC236}">
                <a16:creationId xmlns:a16="http://schemas.microsoft.com/office/drawing/2014/main" id="{217CDBD4-7106-9FF1-613B-7D0186F2F30B}"/>
              </a:ext>
            </a:extLst>
          </p:cNvPr>
          <p:cNvSpPr>
            <a:spLocks noGrp="1"/>
          </p:cNvSpPr>
          <p:nvPr>
            <p:ph idx="1"/>
          </p:nvPr>
        </p:nvSpPr>
        <p:spPr>
          <a:xfrm>
            <a:off x="838200" y="1309036"/>
            <a:ext cx="10515600" cy="4867927"/>
          </a:xfrm>
        </p:spPr>
        <p:txBody>
          <a:bodyPr>
            <a:normAutofit lnSpcReduction="10000"/>
          </a:bodyPr>
          <a:lstStyle/>
          <a:p>
            <a:pPr algn="just" fontAlgn="base"/>
            <a:r>
              <a:rPr lang="en-US" dirty="0"/>
              <a:t>Dynamic Host Configuration Protocol (DHCP) is a network protocol used to automate the process of assigning IP addresses and other network configuration parameters to devices such as computers, smartphones and printers. Instead of manually configuring each device, DHCP enables devices to join a network and automatically receive:</a:t>
            </a:r>
          </a:p>
          <a:p>
            <a:pPr fontAlgn="base"/>
            <a:r>
              <a:rPr lang="en-US" dirty="0"/>
              <a:t>IP Address</a:t>
            </a:r>
          </a:p>
          <a:p>
            <a:pPr fontAlgn="base"/>
            <a:r>
              <a:rPr lang="en-US" dirty="0"/>
              <a:t>Subnet Mask</a:t>
            </a:r>
          </a:p>
          <a:p>
            <a:pPr fontAlgn="base"/>
            <a:r>
              <a:rPr lang="en-US" dirty="0"/>
              <a:t>Default Gateway</a:t>
            </a:r>
          </a:p>
          <a:p>
            <a:pPr fontAlgn="base"/>
            <a:r>
              <a:rPr lang="en-US" dirty="0"/>
              <a:t>DNS Server addresses</a:t>
            </a:r>
          </a:p>
          <a:p>
            <a:pPr fontAlgn="base"/>
            <a:r>
              <a:rPr lang="en-US" dirty="0"/>
              <a:t>Other TCP/IP configuration options</a:t>
            </a:r>
          </a:p>
          <a:p>
            <a:endParaRPr lang="en-US" dirty="0"/>
          </a:p>
        </p:txBody>
      </p:sp>
    </p:spTree>
    <p:extLst>
      <p:ext uri="{BB962C8B-B14F-4D97-AF65-F5344CB8AC3E}">
        <p14:creationId xmlns:p14="http://schemas.microsoft.com/office/powerpoint/2010/main" val="113005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B574B-27EC-1C13-F034-9F8AAE1272B3}"/>
              </a:ext>
            </a:extLst>
          </p:cNvPr>
          <p:cNvSpPr>
            <a:spLocks noGrp="1"/>
          </p:cNvSpPr>
          <p:nvPr>
            <p:ph type="title"/>
          </p:nvPr>
        </p:nvSpPr>
        <p:spPr>
          <a:xfrm>
            <a:off x="838200" y="365126"/>
            <a:ext cx="10515600" cy="751406"/>
          </a:xfrm>
        </p:spPr>
        <p:txBody>
          <a:bodyPr>
            <a:normAutofit/>
          </a:bodyPr>
          <a:lstStyle/>
          <a:p>
            <a:r>
              <a:rPr lang="en-US" dirty="0"/>
              <a:t>Components of DHCP</a:t>
            </a:r>
          </a:p>
        </p:txBody>
      </p:sp>
      <p:sp>
        <p:nvSpPr>
          <p:cNvPr id="3" name="Content Placeholder 2">
            <a:extLst>
              <a:ext uri="{FF2B5EF4-FFF2-40B4-BE49-F238E27FC236}">
                <a16:creationId xmlns:a16="http://schemas.microsoft.com/office/drawing/2014/main" id="{0B889460-C74A-CFE7-1129-2E5261415394}"/>
              </a:ext>
            </a:extLst>
          </p:cNvPr>
          <p:cNvSpPr>
            <a:spLocks noGrp="1"/>
          </p:cNvSpPr>
          <p:nvPr>
            <p:ph idx="1"/>
          </p:nvPr>
        </p:nvSpPr>
        <p:spPr>
          <a:xfrm>
            <a:off x="838200" y="1116532"/>
            <a:ext cx="10515600" cy="5082138"/>
          </a:xfrm>
        </p:spPr>
        <p:txBody>
          <a:bodyPr>
            <a:normAutofit fontScale="77500" lnSpcReduction="20000"/>
          </a:bodyPr>
          <a:lstStyle/>
          <a:p>
            <a:pPr fontAlgn="base"/>
            <a:r>
              <a:rPr lang="en-US" b="1" dirty="0"/>
              <a:t>DHCP Server: </a:t>
            </a:r>
            <a:r>
              <a:rPr lang="en-US" dirty="0"/>
              <a:t>Stores IP addresses and configuration details. Allocates addresses dynamically to clients.</a:t>
            </a:r>
          </a:p>
          <a:p>
            <a:pPr fontAlgn="base"/>
            <a:r>
              <a:rPr lang="en-US" b="1" dirty="0"/>
              <a:t>DHCP Relay</a:t>
            </a:r>
            <a:r>
              <a:rPr lang="en-US" dirty="0"/>
              <a:t>: Acts as a bridge between clients and servers when they are not on the same subnet.</a:t>
            </a:r>
          </a:p>
          <a:p>
            <a:pPr fontAlgn="base"/>
            <a:r>
              <a:rPr lang="en-US" b="1" dirty="0"/>
              <a:t>DHCP Client</a:t>
            </a:r>
            <a:r>
              <a:rPr lang="en-US" dirty="0"/>
              <a:t>: A device (PC, phone, printer, etc.) that requests and receives network configuration from the DHCP server.</a:t>
            </a:r>
          </a:p>
          <a:p>
            <a:pPr fontAlgn="base"/>
            <a:r>
              <a:rPr lang="en-US" b="1" dirty="0"/>
              <a:t>IP Address Pool</a:t>
            </a:r>
            <a:r>
              <a:rPr lang="en-US" dirty="0"/>
              <a:t>: A predefined range of IP addresses that the DHCP server can lease to devices.</a:t>
            </a:r>
          </a:p>
          <a:p>
            <a:pPr fontAlgn="base"/>
            <a:r>
              <a:rPr lang="en-US" b="1" dirty="0"/>
              <a:t>Subnets</a:t>
            </a:r>
            <a:r>
              <a:rPr lang="en-US" dirty="0"/>
              <a:t>: Logical partitions of an IP network to organize and manage IP allocation.</a:t>
            </a:r>
          </a:p>
          <a:p>
            <a:pPr fontAlgn="base"/>
            <a:r>
              <a:rPr lang="en-US" b="1" dirty="0"/>
              <a:t>Lease</a:t>
            </a:r>
            <a:r>
              <a:rPr lang="en-US" dirty="0"/>
              <a:t>: The time period for which an IP address is assigned to a client. After expiry, the client must renew or request a new lease.</a:t>
            </a:r>
          </a:p>
          <a:p>
            <a:pPr fontAlgn="base"/>
            <a:r>
              <a:rPr lang="en-US" b="1" dirty="0"/>
              <a:t>DNS Servers</a:t>
            </a:r>
            <a:r>
              <a:rPr lang="en-US" dirty="0"/>
              <a:t>: DHCP can provide DNS server information to clients for resolving domain names.</a:t>
            </a:r>
          </a:p>
          <a:p>
            <a:pPr fontAlgn="base"/>
            <a:r>
              <a:rPr lang="en-US" b="1" dirty="0"/>
              <a:t>Default Gateway</a:t>
            </a:r>
            <a:r>
              <a:rPr lang="en-US" dirty="0"/>
              <a:t>: The gateway router information is provided to clients so they can communicate outside their subnet.</a:t>
            </a:r>
          </a:p>
          <a:p>
            <a:pPr fontAlgn="base"/>
            <a:r>
              <a:rPr lang="en-US" b="1" dirty="0"/>
              <a:t>Options</a:t>
            </a:r>
            <a:r>
              <a:rPr lang="en-US" dirty="0"/>
              <a:t>: Additional parameters like subnet mask, domain name and time servers.</a:t>
            </a:r>
          </a:p>
          <a:p>
            <a:endParaRPr lang="en-US" dirty="0"/>
          </a:p>
        </p:txBody>
      </p:sp>
    </p:spTree>
    <p:extLst>
      <p:ext uri="{BB962C8B-B14F-4D97-AF65-F5344CB8AC3E}">
        <p14:creationId xmlns:p14="http://schemas.microsoft.com/office/powerpoint/2010/main" val="1435862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ACF157-962C-EBC5-879D-A299D506610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Working of DHCP</a:t>
            </a:r>
          </a:p>
        </p:txBody>
      </p:sp>
      <p:pic>
        <p:nvPicPr>
          <p:cNvPr id="9" name="Content Placeholder 8" descr="A diagram of a dhcp process&#10;&#10;AI-generated content may be incorrect.">
            <a:extLst>
              <a:ext uri="{FF2B5EF4-FFF2-40B4-BE49-F238E27FC236}">
                <a16:creationId xmlns:a16="http://schemas.microsoft.com/office/drawing/2014/main" id="{1B33ECC4-030D-EE9D-DA19-8202384A61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7942" y="283030"/>
            <a:ext cx="6204857" cy="6346370"/>
          </a:xfrm>
          <a:prstGeom prst="rect">
            <a:avLst/>
          </a:prstGeom>
        </p:spPr>
      </p:pic>
    </p:spTree>
    <p:extLst>
      <p:ext uri="{BB962C8B-B14F-4D97-AF65-F5344CB8AC3E}">
        <p14:creationId xmlns:p14="http://schemas.microsoft.com/office/powerpoint/2010/main" val="2867756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C3D6-43E5-E58E-39CB-1819E3AE9ABF}"/>
              </a:ext>
            </a:extLst>
          </p:cNvPr>
          <p:cNvSpPr>
            <a:spLocks noGrp="1"/>
          </p:cNvSpPr>
          <p:nvPr>
            <p:ph type="title"/>
          </p:nvPr>
        </p:nvSpPr>
        <p:spPr>
          <a:xfrm>
            <a:off x="838200" y="365126"/>
            <a:ext cx="10515600" cy="761030"/>
          </a:xfrm>
        </p:spPr>
        <p:txBody>
          <a:bodyPr>
            <a:normAutofit/>
          </a:bodyPr>
          <a:lstStyle/>
          <a:p>
            <a:r>
              <a:rPr lang="en-US" b="1" dirty="0"/>
              <a:t>DHCP (cont.)</a:t>
            </a:r>
          </a:p>
        </p:txBody>
      </p:sp>
      <p:sp>
        <p:nvSpPr>
          <p:cNvPr id="3" name="Content Placeholder 2">
            <a:extLst>
              <a:ext uri="{FF2B5EF4-FFF2-40B4-BE49-F238E27FC236}">
                <a16:creationId xmlns:a16="http://schemas.microsoft.com/office/drawing/2014/main" id="{A081DCCC-FE55-6648-7F51-9B66EF52592A}"/>
              </a:ext>
            </a:extLst>
          </p:cNvPr>
          <p:cNvSpPr>
            <a:spLocks noGrp="1"/>
          </p:cNvSpPr>
          <p:nvPr>
            <p:ph idx="1"/>
          </p:nvPr>
        </p:nvSpPr>
        <p:spPr>
          <a:xfrm>
            <a:off x="838200" y="1280160"/>
            <a:ext cx="10515600" cy="4896803"/>
          </a:xfrm>
        </p:spPr>
        <p:txBody>
          <a:bodyPr>
            <a:normAutofit fontScale="85000" lnSpcReduction="20000"/>
          </a:bodyPr>
          <a:lstStyle/>
          <a:p>
            <a:pPr algn="just"/>
            <a:r>
              <a:rPr lang="en-US" dirty="0"/>
              <a:t>DHCP operates on the Application Layer using UDP ports 67 (server) and 68 (client). It follows a client-server model. The client and server primarily exchange four key messages—a process called DORA (Discover, Offer, Request, Acknowledge). In DHCP, the client and the server exchange DHCP messages to establish a connection. However, DHCP defines following messages:</a:t>
            </a:r>
          </a:p>
          <a:p>
            <a:pPr marL="0" indent="0" algn="just" fontAlgn="base">
              <a:buNone/>
            </a:pPr>
            <a:r>
              <a:rPr lang="en-US" dirty="0"/>
              <a:t>1. </a:t>
            </a:r>
            <a:r>
              <a:rPr lang="en-US" b="1" dirty="0"/>
              <a:t>DHCP Discover Message:</a:t>
            </a:r>
          </a:p>
          <a:p>
            <a:pPr algn="just"/>
            <a:r>
              <a:rPr lang="en-US" dirty="0"/>
              <a:t>It is the first message produced by a client in the communication process between the client and server with the target address 255.255.255.255 and the source address 0.0.0.0.</a:t>
            </a:r>
          </a:p>
          <a:p>
            <a:pPr algn="just"/>
            <a:r>
              <a:rPr lang="en-US" dirty="0"/>
              <a:t>This message is produced by the client host to discover if there are any DHCP servers present in a network or not.</a:t>
            </a:r>
          </a:p>
          <a:p>
            <a:pPr algn="just"/>
            <a:r>
              <a:rPr lang="en-US" dirty="0"/>
              <a:t>The message might contain other requests like subnet mask, domain name server, and domain name, etc.</a:t>
            </a:r>
          </a:p>
          <a:p>
            <a:pPr algn="just"/>
            <a:r>
              <a:rPr lang="en-US" dirty="0"/>
              <a:t>The message is broadcast to all the devices in a network to find the DHCP server. </a:t>
            </a:r>
          </a:p>
          <a:p>
            <a:pPr fontAlgn="base"/>
            <a:endParaRPr lang="en-US" dirty="0"/>
          </a:p>
          <a:p>
            <a:pPr marL="0" indent="0">
              <a:buNone/>
            </a:pPr>
            <a:endParaRPr lang="en-US" dirty="0"/>
          </a:p>
        </p:txBody>
      </p:sp>
    </p:spTree>
    <p:extLst>
      <p:ext uri="{BB962C8B-B14F-4D97-AF65-F5344CB8AC3E}">
        <p14:creationId xmlns:p14="http://schemas.microsoft.com/office/powerpoint/2010/main" val="2567934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1096DE-5326-46E3-F036-3FFC068A4C4E}"/>
              </a:ext>
            </a:extLst>
          </p:cNvPr>
          <p:cNvSpPr>
            <a:spLocks noGrp="1"/>
          </p:cNvSpPr>
          <p:nvPr>
            <p:ph idx="1"/>
          </p:nvPr>
        </p:nvSpPr>
        <p:spPr>
          <a:xfrm>
            <a:off x="838200" y="182880"/>
            <a:ext cx="10515600" cy="6362299"/>
          </a:xfrm>
        </p:spPr>
        <p:txBody>
          <a:bodyPr>
            <a:normAutofit fontScale="92500" lnSpcReduction="20000"/>
          </a:bodyPr>
          <a:lstStyle/>
          <a:p>
            <a:pPr marL="0" indent="0" algn="just" fontAlgn="base">
              <a:buNone/>
            </a:pPr>
            <a:r>
              <a:rPr lang="en-US" b="1" dirty="0"/>
              <a:t>2. DHCP Offers A Message</a:t>
            </a:r>
          </a:p>
          <a:p>
            <a:pPr algn="just"/>
            <a:r>
              <a:rPr lang="en-US" dirty="0"/>
              <a:t>The DHCP server will reply/respond to the host in this message, specifying the unleashed IP address and other TCP configuration information.</a:t>
            </a:r>
          </a:p>
          <a:p>
            <a:pPr algn="just"/>
            <a:r>
              <a:rPr lang="en-US" dirty="0"/>
              <a:t>This message is broadcasted by the server.</a:t>
            </a:r>
          </a:p>
          <a:p>
            <a:pPr algn="just"/>
            <a:r>
              <a:rPr lang="en-US" dirty="0"/>
              <a:t>If there are more than one DHCP servers present in the network, then the client host accepts the first DHCP OFFER message it receives.</a:t>
            </a:r>
          </a:p>
          <a:p>
            <a:pPr algn="just"/>
            <a:r>
              <a:rPr lang="en-US" dirty="0"/>
              <a:t>Also, a server ID is specified in the packet to identify the server.</a:t>
            </a:r>
          </a:p>
          <a:p>
            <a:pPr marL="0" indent="0" algn="just">
              <a:buNone/>
            </a:pPr>
            <a:r>
              <a:rPr lang="en-US" b="1" dirty="0"/>
              <a:t>3. DHCP Request Message − Client Accepts DHCP Server Offer</a:t>
            </a:r>
          </a:p>
          <a:p>
            <a:pPr algn="just"/>
            <a:r>
              <a:rPr lang="en-US" dirty="0"/>
              <a:t>The Client receives the DHCP offer message from the DHCP server that replied/responded to the DHCP discover message.</a:t>
            </a:r>
          </a:p>
          <a:p>
            <a:pPr algn="just"/>
            <a:r>
              <a:rPr lang="en-US" dirty="0"/>
              <a:t>After receiving the offer message, the client will compare the offer that is requested, and then select the server it wants to use.</a:t>
            </a:r>
          </a:p>
          <a:p>
            <a:pPr algn="just"/>
            <a:r>
              <a:rPr lang="en-US" dirty="0"/>
              <a:t>The client sends the DHCP Request message to accept the offer, showing which server is selected.</a:t>
            </a:r>
          </a:p>
          <a:p>
            <a:pPr algn="just"/>
            <a:r>
              <a:rPr lang="en-US" dirty="0"/>
              <a:t>Then this message is broadcast to the entire network to let all the DHCP servers know which server was selected.</a:t>
            </a:r>
          </a:p>
          <a:p>
            <a:pPr marL="0" indent="0" fontAlgn="base">
              <a:buNone/>
            </a:pPr>
            <a:endParaRPr lang="en-US" dirty="0"/>
          </a:p>
          <a:p>
            <a:endParaRPr lang="en-US" dirty="0"/>
          </a:p>
        </p:txBody>
      </p:sp>
    </p:spTree>
    <p:extLst>
      <p:ext uri="{BB962C8B-B14F-4D97-AF65-F5344CB8AC3E}">
        <p14:creationId xmlns:p14="http://schemas.microsoft.com/office/powerpoint/2010/main" val="2769408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72F57E-DF8B-2BFD-FECB-7E5FBFFB3C3B}"/>
              </a:ext>
            </a:extLst>
          </p:cNvPr>
          <p:cNvSpPr>
            <a:spLocks noGrp="1"/>
          </p:cNvSpPr>
          <p:nvPr>
            <p:ph idx="1"/>
          </p:nvPr>
        </p:nvSpPr>
        <p:spPr>
          <a:xfrm>
            <a:off x="838200" y="317634"/>
            <a:ext cx="10515600" cy="6189044"/>
          </a:xfrm>
        </p:spPr>
        <p:txBody>
          <a:bodyPr/>
          <a:lstStyle/>
          <a:p>
            <a:pPr marL="0" indent="0" algn="just">
              <a:buNone/>
            </a:pPr>
            <a:r>
              <a:rPr lang="en-US" b="1" dirty="0"/>
              <a:t>4. DHCP Acknowledgment Message − DHCP server acknowledges the client and leases the IP address.</a:t>
            </a:r>
          </a:p>
          <a:p>
            <a:pPr algn="just"/>
            <a:r>
              <a:rPr lang="en-US" dirty="0"/>
              <a:t>If a server receives a DHCP Request message, the server marks the address as leased.</a:t>
            </a:r>
          </a:p>
          <a:p>
            <a:pPr algn="just"/>
            <a:r>
              <a:rPr lang="en-US" dirty="0"/>
              <a:t>Servers that are not selected will return the offered addresses to their available pool.</a:t>
            </a:r>
          </a:p>
          <a:p>
            <a:pPr algn="just"/>
            <a:r>
              <a:rPr lang="en-US" dirty="0"/>
              <a:t>Now, the selected server sends the client an acknowledgment (DHCP ASK), which contains additional configuration information.</a:t>
            </a:r>
          </a:p>
          <a:p>
            <a:pPr algn="just"/>
            <a:r>
              <a:rPr lang="en-US" dirty="0"/>
              <a:t>The client may use the IP address and configuration parameters. It will use these settings till its lease expires or till the client sends a DHCP Release message to the server to end the lease.</a:t>
            </a:r>
          </a:p>
        </p:txBody>
      </p:sp>
    </p:spTree>
    <p:extLst>
      <p:ext uri="{BB962C8B-B14F-4D97-AF65-F5344CB8AC3E}">
        <p14:creationId xmlns:p14="http://schemas.microsoft.com/office/powerpoint/2010/main" val="939349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16639C-99B0-5AF8-0ED6-1782C879E528}"/>
              </a:ext>
            </a:extLst>
          </p:cNvPr>
          <p:cNvSpPr>
            <a:spLocks noGrp="1"/>
          </p:cNvSpPr>
          <p:nvPr>
            <p:ph idx="1"/>
          </p:nvPr>
        </p:nvSpPr>
        <p:spPr>
          <a:xfrm>
            <a:off x="838200" y="336884"/>
            <a:ext cx="10515600" cy="6208295"/>
          </a:xfrm>
        </p:spPr>
        <p:txBody>
          <a:bodyPr>
            <a:normAutofit fontScale="92500"/>
          </a:bodyPr>
          <a:lstStyle/>
          <a:p>
            <a:pPr marL="0" indent="0" algn="just">
              <a:buNone/>
            </a:pPr>
            <a:r>
              <a:rPr lang="en-US" b="1" dirty="0"/>
              <a:t>5. DHCP Request, DHCP ACK Message − Client attempts to renew the lease</a:t>
            </a:r>
          </a:p>
          <a:p>
            <a:pPr algn="just"/>
            <a:r>
              <a:rPr lang="en-US" dirty="0"/>
              <a:t>The client starts to renew a lease when half of the lease time has passed.</a:t>
            </a:r>
          </a:p>
          <a:p>
            <a:pPr algn="just"/>
            <a:r>
              <a:rPr lang="en-US" dirty="0"/>
              <a:t>The client requests the renewal by sending a DHCP Request message to the server.</a:t>
            </a:r>
          </a:p>
          <a:p>
            <a:pPr algn="just"/>
            <a:r>
              <a:rPr lang="en-US" dirty="0"/>
              <a:t>If the server accepts the request, it will send a DHC ACK message back to the client.</a:t>
            </a:r>
          </a:p>
          <a:p>
            <a:pPr algn="just"/>
            <a:r>
              <a:rPr lang="en-US" dirty="0"/>
              <a:t>If the server does not respond to the request, the client might continue to use the IP address and configuration information until the lease expires.</a:t>
            </a:r>
          </a:p>
          <a:p>
            <a:pPr algn="just"/>
            <a:r>
              <a:rPr lang="en-US" dirty="0"/>
              <a:t>As long as the lease is still active, the client and server do not need to go through the DHCP Discover and DHCP Request process.</a:t>
            </a:r>
          </a:p>
          <a:p>
            <a:pPr algn="just"/>
            <a:r>
              <a:rPr lang="en-US" dirty="0"/>
              <a:t>When the lease has expired, the client must start over with the DHCP Discover process.</a:t>
            </a:r>
            <a:endParaRPr lang="en-US" b="1" dirty="0"/>
          </a:p>
          <a:p>
            <a:endParaRPr lang="en-US" dirty="0"/>
          </a:p>
        </p:txBody>
      </p:sp>
    </p:spTree>
    <p:extLst>
      <p:ext uri="{BB962C8B-B14F-4D97-AF65-F5344CB8AC3E}">
        <p14:creationId xmlns:p14="http://schemas.microsoft.com/office/powerpoint/2010/main" val="560928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00404F-BD26-703F-00FF-782C94EB0D6E}"/>
              </a:ext>
            </a:extLst>
          </p:cNvPr>
          <p:cNvSpPr>
            <a:spLocks noGrp="1"/>
          </p:cNvSpPr>
          <p:nvPr>
            <p:ph idx="1"/>
          </p:nvPr>
        </p:nvSpPr>
        <p:spPr>
          <a:xfrm>
            <a:off x="838200" y="336884"/>
            <a:ext cx="10515600" cy="6294922"/>
          </a:xfrm>
        </p:spPr>
        <p:txBody>
          <a:bodyPr/>
          <a:lstStyle/>
          <a:p>
            <a:pPr marL="0" indent="0" algn="just">
              <a:buNone/>
            </a:pPr>
            <a:r>
              <a:rPr lang="en-US" b="1" dirty="0"/>
              <a:t>6. The client ends the lease − DHCPRELEASE</a:t>
            </a:r>
          </a:p>
          <a:p>
            <a:pPr algn="just"/>
            <a:r>
              <a:rPr lang="en-US" dirty="0"/>
              <a:t>The client ends the lease by sending a DHCP Release message to the DHCP server.</a:t>
            </a:r>
          </a:p>
          <a:p>
            <a:pPr algn="just"/>
            <a:r>
              <a:rPr lang="en-US" dirty="0"/>
              <a:t>The server will then return the client's IP address to the available address pool and cancel any remaining lease time.</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2894561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440</TotalTime>
  <Words>1771</Words>
  <Application>Microsoft Office PowerPoint</Application>
  <PresentationFormat>Widescreen</PresentationFormat>
  <Paragraphs>106</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ARP, RARP DHCP</vt:lpstr>
      <vt:lpstr>ARP - Address Resolution Protocol</vt:lpstr>
      <vt:lpstr>Important ARP Terms</vt:lpstr>
      <vt:lpstr>Types of ARP</vt:lpstr>
      <vt:lpstr>How ARP Works</vt:lpstr>
      <vt:lpstr>How ARP Works (cont.)</vt:lpstr>
      <vt:lpstr>ARP Message Format</vt:lpstr>
      <vt:lpstr>ARP Message Format</vt:lpstr>
      <vt:lpstr>Advantages of ARP Protocol</vt:lpstr>
      <vt:lpstr>RARP-Reverse Address Resolution Protocol</vt:lpstr>
      <vt:lpstr>RARP</vt:lpstr>
      <vt:lpstr>How it works</vt:lpstr>
      <vt:lpstr>RARP Packet Format &amp; Encapsulation</vt:lpstr>
      <vt:lpstr>Dynamic Host Configuration Protocol (DHCP)</vt:lpstr>
      <vt:lpstr>Components of DHCP</vt:lpstr>
      <vt:lpstr>Working of DHCP</vt:lpstr>
      <vt:lpstr>DHCP (cont.)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ASUS</cp:lastModifiedBy>
  <cp:revision>9</cp:revision>
  <dcterms:created xsi:type="dcterms:W3CDTF">2025-10-16T08:31:42Z</dcterms:created>
  <dcterms:modified xsi:type="dcterms:W3CDTF">2025-10-16T15:52:33Z</dcterms:modified>
</cp:coreProperties>
</file>